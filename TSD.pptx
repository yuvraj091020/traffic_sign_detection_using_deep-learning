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59">
          <p15:clr>
            <a:srgbClr val="EA4335"/>
          </p15:clr>
        </p15:guide>
        <p15:guide id="2" pos="288">
          <p15:clr>
            <a:srgbClr val="EA4335"/>
          </p15:clr>
        </p15:guide>
        <p15:guide id="3" pos="5472">
          <p15:clr>
            <a:srgbClr val="EA4335"/>
          </p15:clr>
        </p15:guide>
        <p15:guide id="4" orient="horz" pos="2984">
          <p15:clr>
            <a:srgbClr val="EA4335"/>
          </p15:clr>
        </p15:guide>
        <p15:guide id="5" orient="horz" pos="50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59" orient="horz"/>
        <p:guide pos="288"/>
        <p:guide pos="5472"/>
        <p:guide pos="2984" orient="horz"/>
        <p:guide pos="504"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slide" Target="slides/slide19.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e3ea2552eb_2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1e3ea2552eb_2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e3ea2552eb_2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1e3ea2552eb_2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e3ea2552eb_2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1e3ea2552eb_2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e3ea2552eb_2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e3ea2552eb_2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e3ea2552eb_2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g1e3ea2552eb_2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e3ea2552eb_2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g1e3ea2552eb_2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e3ea2552eb_2_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g1e3ea2552eb_2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1e3ea2552eb_2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1e3ea2552eb_2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e3ea2552eb_2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1e3ea2552eb_2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e3ea2552eb_2_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g1e3ea2552eb_2_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e3ea2552eb_2_1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g1e3ea2552eb_2_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e3ea2552eb_2_1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g1e3ea2552eb_2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e3ea2552eb_2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e3ea2552eb_2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e3ea2552eb_2_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g1e3ea2552eb_2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 name="Google Shape;13;p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 name="Google Shape;17;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1" name="Google Shape;21;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5" name="Google Shape;25;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6" name="Google Shape;26;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2" name="Google Shape;4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5" name="Google Shape;4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62300" y="2085575"/>
            <a:ext cx="9144000" cy="569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1" i="0" lang="en" sz="2500" u="none" cap="none" strike="noStrike">
                <a:solidFill>
                  <a:schemeClr val="dk1"/>
                </a:solidFill>
                <a:latin typeface="Times New Roman"/>
                <a:ea typeface="Times New Roman"/>
                <a:cs typeface="Times New Roman"/>
                <a:sym typeface="Times New Roman"/>
              </a:rPr>
              <a:t>Detection of </a:t>
            </a:r>
            <a:r>
              <a:rPr b="1" lang="en" sz="2500">
                <a:solidFill>
                  <a:schemeClr val="dk1"/>
                </a:solidFill>
                <a:latin typeface="Times New Roman"/>
                <a:ea typeface="Times New Roman"/>
                <a:cs typeface="Times New Roman"/>
                <a:sym typeface="Times New Roman"/>
              </a:rPr>
              <a:t>T</a:t>
            </a:r>
            <a:r>
              <a:rPr b="1" i="0" lang="en" sz="2500" u="none" cap="none" strike="noStrike">
                <a:solidFill>
                  <a:schemeClr val="dk1"/>
                </a:solidFill>
                <a:latin typeface="Times New Roman"/>
                <a:ea typeface="Times New Roman"/>
                <a:cs typeface="Times New Roman"/>
                <a:sym typeface="Times New Roman"/>
              </a:rPr>
              <a:t>raffic </a:t>
            </a:r>
            <a:r>
              <a:rPr b="1" lang="en" sz="2500">
                <a:solidFill>
                  <a:schemeClr val="dk1"/>
                </a:solidFill>
                <a:latin typeface="Times New Roman"/>
                <a:ea typeface="Times New Roman"/>
                <a:cs typeface="Times New Roman"/>
                <a:sym typeface="Times New Roman"/>
              </a:rPr>
              <a:t>S</a:t>
            </a:r>
            <a:r>
              <a:rPr b="1" i="0" lang="en" sz="2500" u="none" cap="none" strike="noStrike">
                <a:solidFill>
                  <a:schemeClr val="dk1"/>
                </a:solidFill>
                <a:latin typeface="Times New Roman"/>
                <a:ea typeface="Times New Roman"/>
                <a:cs typeface="Times New Roman"/>
                <a:sym typeface="Times New Roman"/>
              </a:rPr>
              <a:t>ign using </a:t>
            </a:r>
            <a:r>
              <a:rPr b="1" lang="en" sz="2500">
                <a:solidFill>
                  <a:schemeClr val="dk1"/>
                </a:solidFill>
                <a:latin typeface="Times New Roman"/>
                <a:ea typeface="Times New Roman"/>
                <a:cs typeface="Times New Roman"/>
                <a:sym typeface="Times New Roman"/>
              </a:rPr>
              <a:t>D</a:t>
            </a:r>
            <a:r>
              <a:rPr b="1" i="0" lang="en" sz="2500" u="none" cap="none" strike="noStrike">
                <a:solidFill>
                  <a:schemeClr val="dk1"/>
                </a:solidFill>
                <a:latin typeface="Times New Roman"/>
                <a:ea typeface="Times New Roman"/>
                <a:cs typeface="Times New Roman"/>
                <a:sym typeface="Times New Roman"/>
              </a:rPr>
              <a:t>eep </a:t>
            </a:r>
            <a:r>
              <a:rPr b="1" lang="en" sz="2500">
                <a:solidFill>
                  <a:schemeClr val="dk1"/>
                </a:solidFill>
                <a:latin typeface="Times New Roman"/>
                <a:ea typeface="Times New Roman"/>
                <a:cs typeface="Times New Roman"/>
                <a:sym typeface="Times New Roman"/>
              </a:rPr>
              <a:t>L</a:t>
            </a:r>
            <a:r>
              <a:rPr b="1" i="0" lang="en" sz="2500" u="none" cap="none" strike="noStrike">
                <a:solidFill>
                  <a:schemeClr val="dk1"/>
                </a:solidFill>
                <a:latin typeface="Times New Roman"/>
                <a:ea typeface="Times New Roman"/>
                <a:cs typeface="Times New Roman"/>
                <a:sym typeface="Times New Roman"/>
              </a:rPr>
              <a:t>earning for </a:t>
            </a:r>
            <a:r>
              <a:rPr b="1" lang="en" sz="2500">
                <a:solidFill>
                  <a:schemeClr val="dk1"/>
                </a:solidFill>
                <a:latin typeface="Times New Roman"/>
                <a:ea typeface="Times New Roman"/>
                <a:cs typeface="Times New Roman"/>
                <a:sym typeface="Times New Roman"/>
              </a:rPr>
              <a:t>S</a:t>
            </a:r>
            <a:r>
              <a:rPr b="1" i="0" lang="en" sz="2500" u="none" cap="none" strike="noStrike">
                <a:solidFill>
                  <a:schemeClr val="dk1"/>
                </a:solidFill>
                <a:latin typeface="Times New Roman"/>
                <a:ea typeface="Times New Roman"/>
                <a:cs typeface="Times New Roman"/>
                <a:sym typeface="Times New Roman"/>
              </a:rPr>
              <a:t>mart </a:t>
            </a:r>
            <a:r>
              <a:rPr b="1" lang="en" sz="2500">
                <a:solidFill>
                  <a:schemeClr val="dk1"/>
                </a:solidFill>
                <a:latin typeface="Times New Roman"/>
                <a:ea typeface="Times New Roman"/>
                <a:cs typeface="Times New Roman"/>
                <a:sym typeface="Times New Roman"/>
              </a:rPr>
              <a:t>V</a:t>
            </a:r>
            <a:r>
              <a:rPr b="1" i="0" lang="en" sz="2500" u="none" cap="none" strike="noStrike">
                <a:solidFill>
                  <a:schemeClr val="dk1"/>
                </a:solidFill>
                <a:latin typeface="Times New Roman"/>
                <a:ea typeface="Times New Roman"/>
                <a:cs typeface="Times New Roman"/>
                <a:sym typeface="Times New Roman"/>
              </a:rPr>
              <a:t>ehicles</a:t>
            </a:r>
            <a:endParaRPr b="1" i="0" sz="25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710250" y="170575"/>
            <a:ext cx="7723500" cy="481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1" i="0" lang="en" sz="3000" u="none" cap="none" strike="noStrike">
                <a:solidFill>
                  <a:srgbClr val="000000"/>
                </a:solidFill>
                <a:latin typeface="Times New Roman"/>
                <a:ea typeface="Times New Roman"/>
                <a:cs typeface="Times New Roman"/>
                <a:sym typeface="Times New Roman"/>
              </a:rPr>
              <a:t>Contents</a:t>
            </a:r>
            <a:endParaRPr b="1" i="0" sz="3000" u="none" cap="none" strike="noStrike">
              <a:solidFill>
                <a:srgbClr val="000000"/>
              </a:solidFill>
              <a:latin typeface="Times New Roman"/>
              <a:ea typeface="Times New Roman"/>
              <a:cs typeface="Times New Roman"/>
              <a:sym typeface="Times New Roman"/>
            </a:endParaRPr>
          </a:p>
        </p:txBody>
      </p:sp>
      <p:sp>
        <p:nvSpPr>
          <p:cNvPr id="60" name="Google Shape;60;p14"/>
          <p:cNvSpPr txBox="1"/>
          <p:nvPr/>
        </p:nvSpPr>
        <p:spPr>
          <a:xfrm>
            <a:off x="457200" y="800100"/>
            <a:ext cx="8051400" cy="4109700"/>
          </a:xfrm>
          <a:prstGeom prst="rect">
            <a:avLst/>
          </a:prstGeom>
          <a:noFill/>
          <a:ln>
            <a:noFill/>
          </a:ln>
        </p:spPr>
        <p:txBody>
          <a:bodyPr anchorCtr="0" anchor="t" bIns="91425" lIns="91425" spcFirstLastPara="1" rIns="91425" wrap="square" tIns="91425">
            <a:spAutoFit/>
          </a:bodyPr>
          <a:lstStyle/>
          <a:p>
            <a:pPr indent="-336550" lvl="0" marL="457200" rtl="0" algn="just">
              <a:lnSpc>
                <a:spcPct val="200000"/>
              </a:lnSpc>
              <a:spcBef>
                <a:spcPts val="0"/>
              </a:spcBef>
              <a:spcAft>
                <a:spcPts val="0"/>
              </a:spcAft>
              <a:buClr>
                <a:schemeClr val="dk1"/>
              </a:buClr>
              <a:buSzPts val="1700"/>
              <a:buFont typeface="Times New Roman"/>
              <a:buChar char="●"/>
            </a:pPr>
            <a:r>
              <a:rPr lang="en" sz="1700">
                <a:solidFill>
                  <a:schemeClr val="dk1"/>
                </a:solidFill>
                <a:highlight>
                  <a:srgbClr val="FFFFFF"/>
                </a:highlight>
                <a:latin typeface="Times New Roman"/>
                <a:ea typeface="Times New Roman"/>
                <a:cs typeface="Times New Roman"/>
                <a:sym typeface="Times New Roman"/>
              </a:rPr>
              <a:t>Introduction</a:t>
            </a:r>
            <a:endParaRPr sz="1700">
              <a:solidFill>
                <a:schemeClr val="dk1"/>
              </a:solidFill>
              <a:highlight>
                <a:srgbClr val="FFFFFF"/>
              </a:highlight>
              <a:latin typeface="Times New Roman"/>
              <a:ea typeface="Times New Roman"/>
              <a:cs typeface="Times New Roman"/>
              <a:sym typeface="Times New Roman"/>
            </a:endParaRPr>
          </a:p>
          <a:p>
            <a:pPr indent="-336550" lvl="0" marL="457200" rtl="0" algn="just">
              <a:lnSpc>
                <a:spcPct val="200000"/>
              </a:lnSpc>
              <a:spcBef>
                <a:spcPts val="0"/>
              </a:spcBef>
              <a:spcAft>
                <a:spcPts val="0"/>
              </a:spcAft>
              <a:buClr>
                <a:schemeClr val="dk1"/>
              </a:buClr>
              <a:buSzPts val="1700"/>
              <a:buFont typeface="Times New Roman"/>
              <a:buChar char="●"/>
            </a:pPr>
            <a:r>
              <a:rPr lang="en" sz="1700">
                <a:solidFill>
                  <a:schemeClr val="dk1"/>
                </a:solidFill>
                <a:highlight>
                  <a:srgbClr val="FFFFFF"/>
                </a:highlight>
                <a:latin typeface="Times New Roman"/>
                <a:ea typeface="Times New Roman"/>
                <a:cs typeface="Times New Roman"/>
                <a:sym typeface="Times New Roman"/>
              </a:rPr>
              <a:t>Design</a:t>
            </a:r>
            <a:endParaRPr sz="1700">
              <a:solidFill>
                <a:schemeClr val="dk1"/>
              </a:solidFill>
              <a:highlight>
                <a:srgbClr val="FFFFFF"/>
              </a:highlight>
              <a:latin typeface="Times New Roman"/>
              <a:ea typeface="Times New Roman"/>
              <a:cs typeface="Times New Roman"/>
              <a:sym typeface="Times New Roman"/>
            </a:endParaRPr>
          </a:p>
          <a:p>
            <a:pPr indent="-336550" lvl="0" marL="457200" rtl="0" algn="just">
              <a:lnSpc>
                <a:spcPct val="200000"/>
              </a:lnSpc>
              <a:spcBef>
                <a:spcPts val="0"/>
              </a:spcBef>
              <a:spcAft>
                <a:spcPts val="0"/>
              </a:spcAft>
              <a:buClr>
                <a:schemeClr val="dk1"/>
              </a:buClr>
              <a:buSzPts val="1700"/>
              <a:buFont typeface="Times New Roman"/>
              <a:buChar char="●"/>
            </a:pPr>
            <a:r>
              <a:rPr lang="en" sz="1700">
                <a:solidFill>
                  <a:schemeClr val="dk1"/>
                </a:solidFill>
                <a:highlight>
                  <a:srgbClr val="FFFFFF"/>
                </a:highlight>
                <a:latin typeface="Times New Roman"/>
                <a:ea typeface="Times New Roman"/>
                <a:cs typeface="Times New Roman"/>
                <a:sym typeface="Times New Roman"/>
              </a:rPr>
              <a:t>Methodology</a:t>
            </a:r>
            <a:endParaRPr sz="1700">
              <a:solidFill>
                <a:schemeClr val="dk1"/>
              </a:solidFill>
              <a:highlight>
                <a:srgbClr val="FFFFFF"/>
              </a:highlight>
              <a:latin typeface="Times New Roman"/>
              <a:ea typeface="Times New Roman"/>
              <a:cs typeface="Times New Roman"/>
              <a:sym typeface="Times New Roman"/>
            </a:endParaRPr>
          </a:p>
          <a:p>
            <a:pPr indent="-336550" lvl="0" marL="457200" rtl="0" algn="just">
              <a:lnSpc>
                <a:spcPct val="200000"/>
              </a:lnSpc>
              <a:spcBef>
                <a:spcPts val="0"/>
              </a:spcBef>
              <a:spcAft>
                <a:spcPts val="0"/>
              </a:spcAft>
              <a:buClr>
                <a:schemeClr val="dk1"/>
              </a:buClr>
              <a:buSzPts val="1700"/>
              <a:buFont typeface="Times New Roman"/>
              <a:buChar char="●"/>
            </a:pPr>
            <a:r>
              <a:rPr lang="en" sz="1700">
                <a:solidFill>
                  <a:schemeClr val="dk1"/>
                </a:solidFill>
                <a:highlight>
                  <a:srgbClr val="FFFFFF"/>
                </a:highlight>
                <a:latin typeface="Times New Roman"/>
                <a:ea typeface="Times New Roman"/>
                <a:cs typeface="Times New Roman"/>
                <a:sym typeface="Times New Roman"/>
              </a:rPr>
              <a:t>Classification using various CNN Model</a:t>
            </a:r>
            <a:endParaRPr sz="1700">
              <a:solidFill>
                <a:schemeClr val="dk1"/>
              </a:solidFill>
              <a:highlight>
                <a:srgbClr val="FFFFFF"/>
              </a:highlight>
              <a:latin typeface="Times New Roman"/>
              <a:ea typeface="Times New Roman"/>
              <a:cs typeface="Times New Roman"/>
              <a:sym typeface="Times New Roman"/>
            </a:endParaRPr>
          </a:p>
          <a:p>
            <a:pPr indent="-336550" lvl="0" marL="457200" rtl="0" algn="just">
              <a:lnSpc>
                <a:spcPct val="200000"/>
              </a:lnSpc>
              <a:spcBef>
                <a:spcPts val="0"/>
              </a:spcBef>
              <a:spcAft>
                <a:spcPts val="0"/>
              </a:spcAft>
              <a:buClr>
                <a:schemeClr val="dk1"/>
              </a:buClr>
              <a:buSzPts val="1700"/>
              <a:buFont typeface="Times New Roman"/>
              <a:buChar char="●"/>
            </a:pPr>
            <a:r>
              <a:rPr lang="en" sz="1700">
                <a:solidFill>
                  <a:schemeClr val="dk1"/>
                </a:solidFill>
                <a:highlight>
                  <a:srgbClr val="FFFFFF"/>
                </a:highlight>
                <a:latin typeface="Times New Roman"/>
                <a:ea typeface="Times New Roman"/>
                <a:cs typeface="Times New Roman"/>
                <a:sym typeface="Times New Roman"/>
              </a:rPr>
              <a:t>Ensemble Learning</a:t>
            </a:r>
            <a:endParaRPr sz="1700">
              <a:solidFill>
                <a:schemeClr val="dk1"/>
              </a:solidFill>
              <a:highlight>
                <a:srgbClr val="FFFFFF"/>
              </a:highlight>
              <a:latin typeface="Times New Roman"/>
              <a:ea typeface="Times New Roman"/>
              <a:cs typeface="Times New Roman"/>
              <a:sym typeface="Times New Roman"/>
            </a:endParaRPr>
          </a:p>
          <a:p>
            <a:pPr indent="-336550" lvl="0" marL="457200" rtl="0" algn="just">
              <a:lnSpc>
                <a:spcPct val="200000"/>
              </a:lnSpc>
              <a:spcBef>
                <a:spcPts val="0"/>
              </a:spcBef>
              <a:spcAft>
                <a:spcPts val="0"/>
              </a:spcAft>
              <a:buClr>
                <a:schemeClr val="dk1"/>
              </a:buClr>
              <a:buSzPts val="1700"/>
              <a:buFont typeface="Times New Roman"/>
              <a:buChar char="●"/>
            </a:pPr>
            <a:r>
              <a:rPr lang="en" sz="1700">
                <a:solidFill>
                  <a:schemeClr val="dk1"/>
                </a:solidFill>
                <a:highlight>
                  <a:srgbClr val="FFFFFF"/>
                </a:highlight>
                <a:latin typeface="Times New Roman"/>
                <a:ea typeface="Times New Roman"/>
                <a:cs typeface="Times New Roman"/>
                <a:sym typeface="Times New Roman"/>
              </a:rPr>
              <a:t>Basic GUI &amp; Website</a:t>
            </a:r>
            <a:endParaRPr sz="1700">
              <a:solidFill>
                <a:schemeClr val="dk1"/>
              </a:solidFill>
              <a:highlight>
                <a:srgbClr val="FFFFFF"/>
              </a:highlight>
              <a:latin typeface="Times New Roman"/>
              <a:ea typeface="Times New Roman"/>
              <a:cs typeface="Times New Roman"/>
              <a:sym typeface="Times New Roman"/>
            </a:endParaRPr>
          </a:p>
          <a:p>
            <a:pPr indent="-336550" lvl="0" marL="457200" rtl="0" algn="just">
              <a:lnSpc>
                <a:spcPct val="200000"/>
              </a:lnSpc>
              <a:spcBef>
                <a:spcPts val="0"/>
              </a:spcBef>
              <a:spcAft>
                <a:spcPts val="0"/>
              </a:spcAft>
              <a:buClr>
                <a:schemeClr val="dk1"/>
              </a:buClr>
              <a:buSzPts val="1700"/>
              <a:buFont typeface="Times New Roman"/>
              <a:buChar char="●"/>
            </a:pPr>
            <a:r>
              <a:rPr lang="en" sz="1700">
                <a:solidFill>
                  <a:schemeClr val="dk1"/>
                </a:solidFill>
                <a:highlight>
                  <a:srgbClr val="FFFFFF"/>
                </a:highlight>
                <a:latin typeface="Times New Roman"/>
                <a:ea typeface="Times New Roman"/>
                <a:cs typeface="Times New Roman"/>
                <a:sym typeface="Times New Roman"/>
              </a:rPr>
              <a:t>Results &amp; Discussion</a:t>
            </a:r>
            <a:endParaRPr sz="1700">
              <a:solidFill>
                <a:schemeClr val="dk1"/>
              </a:solidFill>
              <a:highlight>
                <a:srgbClr val="FFFFFF"/>
              </a:highlight>
              <a:latin typeface="Times New Roman"/>
              <a:ea typeface="Times New Roman"/>
              <a:cs typeface="Times New Roman"/>
              <a:sym typeface="Times New Roman"/>
            </a:endParaRPr>
          </a:p>
          <a:p>
            <a:pPr indent="-336550" lvl="0" marL="457200" rtl="0" algn="just">
              <a:lnSpc>
                <a:spcPct val="200000"/>
              </a:lnSpc>
              <a:spcBef>
                <a:spcPts val="0"/>
              </a:spcBef>
              <a:spcAft>
                <a:spcPts val="0"/>
              </a:spcAft>
              <a:buClr>
                <a:schemeClr val="dk1"/>
              </a:buClr>
              <a:buSzPts val="1700"/>
              <a:buFont typeface="Times New Roman"/>
              <a:buChar char="●"/>
            </a:pPr>
            <a:r>
              <a:rPr lang="en" sz="1700">
                <a:solidFill>
                  <a:schemeClr val="dk1"/>
                </a:solidFill>
                <a:highlight>
                  <a:srgbClr val="FFFFFF"/>
                </a:highlight>
                <a:latin typeface="Times New Roman"/>
                <a:ea typeface="Times New Roman"/>
                <a:cs typeface="Times New Roman"/>
                <a:sym typeface="Times New Roman"/>
              </a:rPr>
              <a:t>Conclusion &amp; Future work</a:t>
            </a:r>
            <a:endParaRPr sz="1700">
              <a:solidFill>
                <a:schemeClr val="dk1"/>
              </a:solidFill>
              <a:highlight>
                <a:srgbClr val="FFFFFF"/>
              </a:highlight>
              <a:latin typeface="Times New Roman"/>
              <a:ea typeface="Times New Roman"/>
              <a:cs typeface="Times New Roman"/>
              <a:sym typeface="Times New Roman"/>
            </a:endParaRPr>
          </a:p>
        </p:txBody>
      </p:sp>
      <p:pic>
        <p:nvPicPr>
          <p:cNvPr id="61" name="Google Shape;61;p14"/>
          <p:cNvPicPr preferRelativeResize="0"/>
          <p:nvPr/>
        </p:nvPicPr>
        <p:blipFill>
          <a:blip r:embed="rId3">
            <a:alphaModFix/>
          </a:blip>
          <a:stretch>
            <a:fillRect/>
          </a:stretch>
        </p:blipFill>
        <p:spPr>
          <a:xfrm>
            <a:off x="5291475" y="920500"/>
            <a:ext cx="3284050" cy="3868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nvSpPr>
        <p:spPr>
          <a:xfrm>
            <a:off x="710250" y="411475"/>
            <a:ext cx="7723500" cy="402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1" i="0" lang="en" sz="3000" u="none" cap="none" strike="noStrike">
                <a:solidFill>
                  <a:srgbClr val="000000"/>
                </a:solidFill>
                <a:latin typeface="Times New Roman"/>
                <a:ea typeface="Times New Roman"/>
                <a:cs typeface="Times New Roman"/>
                <a:sym typeface="Times New Roman"/>
              </a:rPr>
              <a:t>Introduction</a:t>
            </a:r>
            <a:endParaRPr b="1" i="0" sz="3000" u="none" cap="none" strike="noStrike">
              <a:solidFill>
                <a:srgbClr val="000000"/>
              </a:solidFill>
              <a:latin typeface="Times New Roman"/>
              <a:ea typeface="Times New Roman"/>
              <a:cs typeface="Times New Roman"/>
              <a:sym typeface="Times New Roman"/>
            </a:endParaRPr>
          </a:p>
        </p:txBody>
      </p:sp>
      <p:sp>
        <p:nvSpPr>
          <p:cNvPr id="67" name="Google Shape;67;p15"/>
          <p:cNvSpPr txBox="1"/>
          <p:nvPr/>
        </p:nvSpPr>
        <p:spPr>
          <a:xfrm>
            <a:off x="498400" y="1016500"/>
            <a:ext cx="8051400" cy="3811200"/>
          </a:xfrm>
          <a:prstGeom prst="rect">
            <a:avLst/>
          </a:prstGeom>
          <a:noFill/>
          <a:ln>
            <a:noFill/>
          </a:ln>
        </p:spPr>
        <p:txBody>
          <a:bodyPr anchorCtr="0" anchor="t" bIns="91425" lIns="91425" spcFirstLastPara="1" rIns="91425" wrap="square" tIns="91425">
            <a:spAutoFit/>
          </a:bodyPr>
          <a:lstStyle/>
          <a:p>
            <a:pPr indent="-330200" lvl="0" marL="457200" rtl="0" algn="just">
              <a:lnSpc>
                <a:spcPct val="115000"/>
              </a:lnSpc>
              <a:spcBef>
                <a:spcPts val="1200"/>
              </a:spcBef>
              <a:spcAft>
                <a:spcPts val="0"/>
              </a:spcAft>
              <a:buClr>
                <a:schemeClr val="dk1"/>
              </a:buClr>
              <a:buSzPts val="1600"/>
              <a:buFont typeface="Times New Roman"/>
              <a:buChar char="●"/>
            </a:pPr>
            <a:r>
              <a:rPr b="1" lang="en" sz="1600">
                <a:solidFill>
                  <a:schemeClr val="dk1"/>
                </a:solidFill>
                <a:highlight>
                  <a:srgbClr val="FFFFFF"/>
                </a:highlight>
                <a:latin typeface="Times New Roman"/>
                <a:ea typeface="Times New Roman"/>
                <a:cs typeface="Times New Roman"/>
                <a:sym typeface="Times New Roman"/>
              </a:rPr>
              <a:t>Motivation: </a:t>
            </a:r>
            <a:r>
              <a:rPr lang="en" sz="1500">
                <a:solidFill>
                  <a:schemeClr val="dk1"/>
                </a:solidFill>
                <a:highlight>
                  <a:srgbClr val="FFFFFF"/>
                </a:highlight>
                <a:latin typeface="Times New Roman"/>
                <a:ea typeface="Times New Roman"/>
                <a:cs typeface="Times New Roman"/>
                <a:sym typeface="Times New Roman"/>
              </a:rPr>
              <a:t>It is developed to enhance road safety and reduce accidents by improving accuracy and efficiency in detecting traffic signs. This technology has the potential to save lives and reduce the economic impact of road accidents.</a:t>
            </a:r>
            <a:endParaRPr sz="1500">
              <a:solidFill>
                <a:schemeClr val="dk1"/>
              </a:solidFill>
              <a:highlight>
                <a:srgbClr val="FFFFFF"/>
              </a:highlight>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chemeClr val="dk1"/>
              </a:buClr>
              <a:buSzPts val="1600"/>
              <a:buFont typeface="Times New Roman"/>
              <a:buChar char="●"/>
            </a:pPr>
            <a:r>
              <a:rPr b="1" lang="en" sz="1600">
                <a:solidFill>
                  <a:schemeClr val="dk1"/>
                </a:solidFill>
                <a:highlight>
                  <a:srgbClr val="FFFFFF"/>
                </a:highlight>
                <a:latin typeface="Times New Roman"/>
                <a:ea typeface="Times New Roman"/>
                <a:cs typeface="Times New Roman"/>
                <a:sym typeface="Times New Roman"/>
              </a:rPr>
              <a:t>Scope: </a:t>
            </a:r>
            <a:r>
              <a:rPr lang="en" sz="1500">
                <a:solidFill>
                  <a:schemeClr val="dk1"/>
                </a:solidFill>
                <a:highlight>
                  <a:srgbClr val="FFFFFF"/>
                </a:highlight>
                <a:latin typeface="Times New Roman"/>
                <a:ea typeface="Times New Roman"/>
                <a:cs typeface="Times New Roman"/>
                <a:sym typeface="Times New Roman"/>
              </a:rPr>
              <a:t>Developing a deep learning-based traffic sign identification system for intelligent cars, ensuring fast and accurate recognition. Exploring system applications beyond smart vehicles and evaluating performance using diverse datasets.</a:t>
            </a:r>
            <a:endParaRPr sz="1500">
              <a:solidFill>
                <a:schemeClr val="dk1"/>
              </a:solidFill>
              <a:highlight>
                <a:srgbClr val="FFFFFF"/>
              </a:highlight>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chemeClr val="dk1"/>
              </a:buClr>
              <a:buSzPts val="1600"/>
              <a:buFont typeface="Times New Roman"/>
              <a:buChar char="●"/>
            </a:pPr>
            <a:r>
              <a:rPr b="1" lang="en" sz="1600">
                <a:solidFill>
                  <a:schemeClr val="dk1"/>
                </a:solidFill>
                <a:highlight>
                  <a:srgbClr val="FFFFFF"/>
                </a:highlight>
                <a:latin typeface="Times New Roman"/>
                <a:ea typeface="Times New Roman"/>
                <a:cs typeface="Times New Roman"/>
                <a:sym typeface="Times New Roman"/>
              </a:rPr>
              <a:t>Objectives: </a:t>
            </a:r>
            <a:r>
              <a:rPr lang="en" sz="1500">
                <a:solidFill>
                  <a:schemeClr val="dk1"/>
                </a:solidFill>
                <a:highlight>
                  <a:srgbClr val="FFFFFF"/>
                </a:highlight>
                <a:latin typeface="Times New Roman"/>
                <a:ea typeface="Times New Roman"/>
                <a:cs typeface="Times New Roman"/>
                <a:sym typeface="Times New Roman"/>
              </a:rPr>
              <a:t>To develop a fast and accurate deep learning-based traffic sign identification system for smart cars, utilizing convolutional neural networks (CNNs) to extract features and categorize traffic signs.</a:t>
            </a:r>
            <a:endParaRPr sz="1500">
              <a:solidFill>
                <a:schemeClr val="dk1"/>
              </a:solidFill>
              <a:highlight>
                <a:srgbClr val="FFFFFF"/>
              </a:highlight>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chemeClr val="dk1"/>
              </a:buClr>
              <a:buSzPts val="1600"/>
              <a:buFont typeface="Times New Roman"/>
              <a:buChar char="●"/>
            </a:pPr>
            <a:r>
              <a:rPr b="1" lang="en" sz="1600">
                <a:solidFill>
                  <a:schemeClr val="dk1"/>
                </a:solidFill>
                <a:highlight>
                  <a:srgbClr val="FFFFFF"/>
                </a:highlight>
                <a:latin typeface="Times New Roman"/>
                <a:ea typeface="Times New Roman"/>
                <a:cs typeface="Times New Roman"/>
                <a:sym typeface="Times New Roman"/>
              </a:rPr>
              <a:t>Difficulties: </a:t>
            </a:r>
            <a:r>
              <a:rPr lang="en" sz="1500">
                <a:solidFill>
                  <a:schemeClr val="dk1"/>
                </a:solidFill>
                <a:highlight>
                  <a:srgbClr val="FFFFFF"/>
                </a:highlight>
                <a:latin typeface="Times New Roman"/>
                <a:ea typeface="Times New Roman"/>
                <a:cs typeface="Times New Roman"/>
                <a:sym typeface="Times New Roman"/>
              </a:rPr>
              <a:t>It is challenging due to traffic sign variability, varying lighting conditions, occlusion, real-time processing requirements, dataset size, and balancing accuracy with efficiency. Overcoming these difficulties is crucial for enhancing road safety and efficiency.</a:t>
            </a:r>
            <a:endParaRPr sz="1500">
              <a:solidFill>
                <a:schemeClr val="dk1"/>
              </a:solidFill>
              <a:highlight>
                <a:srgbClr val="FFFFFF"/>
              </a:highlight>
              <a:latin typeface="Times New Roman"/>
              <a:ea typeface="Times New Roman"/>
              <a:cs typeface="Times New Roman"/>
              <a:sym typeface="Times New Roman"/>
            </a:endParaRPr>
          </a:p>
          <a:p>
            <a:pPr indent="0" lvl="0" marL="0" rtl="0" algn="just">
              <a:spcBef>
                <a:spcPts val="1200"/>
              </a:spcBef>
              <a:spcAft>
                <a:spcPts val="0"/>
              </a:spcAft>
              <a:buNone/>
            </a:pPr>
            <a:r>
              <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nvSpPr>
        <p:spPr>
          <a:xfrm>
            <a:off x="710250" y="248950"/>
            <a:ext cx="7723500" cy="481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1" lang="en" sz="3000">
                <a:latin typeface="Times New Roman"/>
                <a:ea typeface="Times New Roman"/>
                <a:cs typeface="Times New Roman"/>
                <a:sym typeface="Times New Roman"/>
              </a:rPr>
              <a:t>Design</a:t>
            </a:r>
            <a:endParaRPr b="1" i="0" sz="3000" u="none" cap="none" strike="noStrike">
              <a:solidFill>
                <a:srgbClr val="000000"/>
              </a:solidFill>
              <a:latin typeface="Times New Roman"/>
              <a:ea typeface="Times New Roman"/>
              <a:cs typeface="Times New Roman"/>
              <a:sym typeface="Times New Roman"/>
            </a:endParaRPr>
          </a:p>
        </p:txBody>
      </p:sp>
      <p:sp>
        <p:nvSpPr>
          <p:cNvPr id="73" name="Google Shape;73;p16"/>
          <p:cNvSpPr txBox="1"/>
          <p:nvPr/>
        </p:nvSpPr>
        <p:spPr>
          <a:xfrm>
            <a:off x="498400" y="1016500"/>
            <a:ext cx="8051400" cy="400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a:latin typeface="Times New Roman"/>
              <a:ea typeface="Times New Roman"/>
              <a:cs typeface="Times New Roman"/>
              <a:sym typeface="Times New Roman"/>
            </a:endParaRPr>
          </a:p>
        </p:txBody>
      </p:sp>
      <p:pic>
        <p:nvPicPr>
          <p:cNvPr descr="A picture containing line, diagram, circle, plot&#10;&#10;Description automatically generated" id="74" name="Google Shape;74;p16"/>
          <p:cNvPicPr preferRelativeResize="0"/>
          <p:nvPr/>
        </p:nvPicPr>
        <p:blipFill>
          <a:blip r:embed="rId3">
            <a:alphaModFix/>
          </a:blip>
          <a:stretch>
            <a:fillRect/>
          </a:stretch>
        </p:blipFill>
        <p:spPr>
          <a:xfrm>
            <a:off x="1031950" y="860750"/>
            <a:ext cx="2782625" cy="3422000"/>
          </a:xfrm>
          <a:prstGeom prst="rect">
            <a:avLst/>
          </a:prstGeom>
          <a:noFill/>
          <a:ln cap="flat" cmpd="sng" w="12700">
            <a:solidFill>
              <a:srgbClr val="000000"/>
            </a:solidFill>
            <a:prstDash val="solid"/>
            <a:miter lim="8000"/>
            <a:headEnd len="sm" w="sm" type="none"/>
            <a:tailEnd len="sm" w="sm" type="none"/>
          </a:ln>
        </p:spPr>
      </p:pic>
      <p:pic>
        <p:nvPicPr>
          <p:cNvPr descr="A picture containing diagram, screenshot, line, text&#10;&#10;Description automatically generated" id="75" name="Google Shape;75;p16"/>
          <p:cNvPicPr preferRelativeResize="0"/>
          <p:nvPr/>
        </p:nvPicPr>
        <p:blipFill>
          <a:blip r:embed="rId4">
            <a:alphaModFix/>
          </a:blip>
          <a:stretch>
            <a:fillRect/>
          </a:stretch>
        </p:blipFill>
        <p:spPr>
          <a:xfrm>
            <a:off x="5261587" y="860750"/>
            <a:ext cx="2857486" cy="3422000"/>
          </a:xfrm>
          <a:prstGeom prst="rect">
            <a:avLst/>
          </a:prstGeom>
          <a:noFill/>
          <a:ln cap="flat" cmpd="sng" w="12700">
            <a:solidFill>
              <a:srgbClr val="000000"/>
            </a:solidFill>
            <a:prstDash val="solid"/>
            <a:miter lim="8000"/>
            <a:headEnd len="sm" w="sm" type="none"/>
            <a:tailEnd len="sm" w="sm" type="none"/>
          </a:ln>
        </p:spPr>
      </p:pic>
      <p:sp>
        <p:nvSpPr>
          <p:cNvPr id="76" name="Google Shape;76;p16"/>
          <p:cNvSpPr txBox="1"/>
          <p:nvPr/>
        </p:nvSpPr>
        <p:spPr>
          <a:xfrm>
            <a:off x="1223725" y="4413350"/>
            <a:ext cx="2313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Times New Roman"/>
                <a:ea typeface="Times New Roman"/>
                <a:cs typeface="Times New Roman"/>
                <a:sym typeface="Times New Roman"/>
              </a:rPr>
              <a:t>Use Case Diagram</a:t>
            </a:r>
            <a:endParaRPr>
              <a:latin typeface="Times New Roman"/>
              <a:ea typeface="Times New Roman"/>
              <a:cs typeface="Times New Roman"/>
              <a:sym typeface="Times New Roman"/>
            </a:endParaRPr>
          </a:p>
        </p:txBody>
      </p:sp>
      <p:sp>
        <p:nvSpPr>
          <p:cNvPr id="77" name="Google Shape;77;p16"/>
          <p:cNvSpPr txBox="1"/>
          <p:nvPr/>
        </p:nvSpPr>
        <p:spPr>
          <a:xfrm>
            <a:off x="5533525" y="4413350"/>
            <a:ext cx="2313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Times New Roman"/>
                <a:ea typeface="Times New Roman"/>
                <a:cs typeface="Times New Roman"/>
                <a:sym typeface="Times New Roman"/>
              </a:rPr>
              <a:t>Project Flowchart</a:t>
            </a:r>
            <a:endParaRPr>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nvSpPr>
        <p:spPr>
          <a:xfrm>
            <a:off x="708200" y="170575"/>
            <a:ext cx="7723500" cy="481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1" i="0" lang="en" sz="3000" u="none" cap="none" strike="noStrike">
                <a:solidFill>
                  <a:srgbClr val="000000"/>
                </a:solidFill>
                <a:latin typeface="Times New Roman"/>
                <a:ea typeface="Times New Roman"/>
                <a:cs typeface="Times New Roman"/>
                <a:sym typeface="Times New Roman"/>
              </a:rPr>
              <a:t>Methodology</a:t>
            </a:r>
            <a:endParaRPr b="1" i="0" sz="3000" u="none" cap="none" strike="noStrike">
              <a:solidFill>
                <a:srgbClr val="000000"/>
              </a:solidFill>
              <a:latin typeface="Times New Roman"/>
              <a:ea typeface="Times New Roman"/>
              <a:cs typeface="Times New Roman"/>
              <a:sym typeface="Times New Roman"/>
            </a:endParaRPr>
          </a:p>
        </p:txBody>
      </p:sp>
      <p:sp>
        <p:nvSpPr>
          <p:cNvPr id="83" name="Google Shape;83;p17"/>
          <p:cNvSpPr txBox="1"/>
          <p:nvPr/>
        </p:nvSpPr>
        <p:spPr>
          <a:xfrm>
            <a:off x="239000" y="704500"/>
            <a:ext cx="8661900" cy="4225200"/>
          </a:xfrm>
          <a:prstGeom prst="rect">
            <a:avLst/>
          </a:prstGeom>
          <a:noFill/>
          <a:ln>
            <a:noFill/>
          </a:ln>
        </p:spPr>
        <p:txBody>
          <a:bodyPr anchorCtr="0" anchor="t" bIns="91425" lIns="91425" spcFirstLastPara="1" rIns="91425" wrap="square" tIns="91425">
            <a:spAutoFit/>
          </a:bodyPr>
          <a:lstStyle/>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CNNs are used for image identification tasks, specifically for recognizing traffic signs. </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CNNs process input data hierarchically through layers designed for feature extraction. </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Convolutional layers in CNNs extract important features from images. </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Activation and pooling layers further enhance feature representation. </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The network's weights are optimized during training using techniques like stochastic gradient descent. </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Regularization methods such as dropout and weight decay prevent overfitting. </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CNNs find practical applications in areas like driverless cars, improving road safety and traffic flow. </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Key layers in CNN architecture include convolution, activation, pooling, and fully connected layers. </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Techniques like hyperparameter tuning, data augmentation, model architecture modification, and transfer learning can enhance CNN performance. </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The German Traffic Sign Recognition Benchmark (GTSRB) dataset is commonly used for traffic sign recognition tasks.</a:t>
            </a:r>
            <a:endParaRPr sz="15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nvSpPr>
        <p:spPr>
          <a:xfrm>
            <a:off x="710250" y="223300"/>
            <a:ext cx="7723500" cy="481200"/>
          </a:xfrm>
          <a:prstGeom prst="rect">
            <a:avLst/>
          </a:prstGeom>
          <a:noFill/>
          <a:ln>
            <a:noFill/>
          </a:ln>
        </p:spPr>
        <p:txBody>
          <a:bodyPr anchorCtr="0" anchor="ctr" bIns="91425" lIns="91425" spcFirstLastPara="1" rIns="91425" wrap="square" tIns="91425">
            <a:noAutofit/>
          </a:bodyPr>
          <a:lstStyle/>
          <a:p>
            <a:pPr indent="0" lvl="0" marL="269875" marR="153670" rtl="0" algn="ctr">
              <a:lnSpc>
                <a:spcPct val="150000"/>
              </a:lnSpc>
              <a:spcBef>
                <a:spcPts val="1500"/>
              </a:spcBef>
              <a:spcAft>
                <a:spcPts val="0"/>
              </a:spcAft>
              <a:buClr>
                <a:schemeClr val="dk1"/>
              </a:buClr>
              <a:buSzPts val="1100"/>
              <a:buFont typeface="Arial"/>
              <a:buNone/>
            </a:pPr>
            <a:r>
              <a:rPr b="1" lang="en" sz="2800">
                <a:solidFill>
                  <a:schemeClr val="dk1"/>
                </a:solidFill>
                <a:latin typeface="Times New Roman"/>
                <a:ea typeface="Times New Roman"/>
                <a:cs typeface="Times New Roman"/>
                <a:sym typeface="Times New Roman"/>
              </a:rPr>
              <a:t>Flow of the Model</a:t>
            </a:r>
            <a:endParaRPr b="1" i="0" sz="2800" u="none" cap="none" strike="noStrike">
              <a:solidFill>
                <a:srgbClr val="000000"/>
              </a:solidFill>
              <a:latin typeface="Times New Roman"/>
              <a:ea typeface="Times New Roman"/>
              <a:cs typeface="Times New Roman"/>
              <a:sym typeface="Times New Roman"/>
            </a:endParaRPr>
          </a:p>
        </p:txBody>
      </p:sp>
      <p:pic>
        <p:nvPicPr>
          <p:cNvPr id="89" name="Google Shape;89;p18"/>
          <p:cNvPicPr preferRelativeResize="0"/>
          <p:nvPr/>
        </p:nvPicPr>
        <p:blipFill>
          <a:blip r:embed="rId3">
            <a:alphaModFix/>
          </a:blip>
          <a:stretch>
            <a:fillRect/>
          </a:stretch>
        </p:blipFill>
        <p:spPr>
          <a:xfrm>
            <a:off x="1543825" y="1057675"/>
            <a:ext cx="6056342" cy="3717675"/>
          </a:xfrm>
          <a:prstGeom prst="rect">
            <a:avLst/>
          </a:prstGeom>
          <a:noFill/>
          <a:ln>
            <a:noFill/>
          </a:ln>
        </p:spPr>
      </p:pic>
      <p:sp>
        <p:nvSpPr>
          <p:cNvPr id="90" name="Google Shape;90;p18"/>
          <p:cNvSpPr/>
          <p:nvPr/>
        </p:nvSpPr>
        <p:spPr>
          <a:xfrm>
            <a:off x="1405375" y="898675"/>
            <a:ext cx="6348000" cy="4005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nvSpPr>
        <p:spPr>
          <a:xfrm>
            <a:off x="717400" y="411475"/>
            <a:ext cx="7723500" cy="481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1" lang="en" sz="3000">
                <a:latin typeface="Times New Roman"/>
                <a:ea typeface="Times New Roman"/>
                <a:cs typeface="Times New Roman"/>
                <a:sym typeface="Times New Roman"/>
              </a:rPr>
              <a:t>Classification using various CNN Models</a:t>
            </a:r>
            <a:endParaRPr b="1" i="0" sz="3000" u="none" cap="none" strike="noStrike">
              <a:solidFill>
                <a:srgbClr val="000000"/>
              </a:solidFill>
              <a:latin typeface="Times New Roman"/>
              <a:ea typeface="Times New Roman"/>
              <a:cs typeface="Times New Roman"/>
              <a:sym typeface="Times New Roman"/>
            </a:endParaRPr>
          </a:p>
        </p:txBody>
      </p:sp>
      <p:sp>
        <p:nvSpPr>
          <p:cNvPr id="96" name="Google Shape;96;p19"/>
          <p:cNvSpPr txBox="1"/>
          <p:nvPr/>
        </p:nvSpPr>
        <p:spPr>
          <a:xfrm>
            <a:off x="588375" y="1006925"/>
            <a:ext cx="5170800" cy="37788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 sz="1500">
                <a:solidFill>
                  <a:schemeClr val="dk1"/>
                </a:solidFill>
                <a:highlight>
                  <a:srgbClr val="FFFFFF"/>
                </a:highlight>
                <a:latin typeface="Times New Roman"/>
                <a:ea typeface="Times New Roman"/>
                <a:cs typeface="Times New Roman"/>
                <a:sym typeface="Times New Roman"/>
              </a:rPr>
              <a:t>Customized AlexNet: </a:t>
            </a:r>
            <a:endParaRPr b="1" sz="1500">
              <a:solidFill>
                <a:schemeClr val="dk1"/>
              </a:solidFill>
              <a:highlight>
                <a:srgbClr val="FFFFFF"/>
              </a:highlight>
              <a:latin typeface="Times New Roman"/>
              <a:ea typeface="Times New Roman"/>
              <a:cs typeface="Times New Roman"/>
              <a:sym typeface="Times New Roman"/>
            </a:endParaRPr>
          </a:p>
          <a:p>
            <a:pPr indent="-311150" lvl="0" marL="457200" rtl="0" algn="just">
              <a:lnSpc>
                <a:spcPct val="150000"/>
              </a:lnSpc>
              <a:spcBef>
                <a:spcPts val="0"/>
              </a:spcBef>
              <a:spcAft>
                <a:spcPts val="0"/>
              </a:spcAft>
              <a:buClr>
                <a:schemeClr val="dk1"/>
              </a:buClr>
              <a:buSzPts val="1300"/>
              <a:buFont typeface="Times New Roman"/>
              <a:buChar char="●"/>
            </a:pPr>
            <a:r>
              <a:rPr b="1" i="1" lang="en" sz="1300">
                <a:solidFill>
                  <a:schemeClr val="dk1"/>
                </a:solidFill>
                <a:highlight>
                  <a:srgbClr val="FFFFFF"/>
                </a:highlight>
                <a:latin typeface="Times New Roman"/>
                <a:ea typeface="Times New Roman"/>
                <a:cs typeface="Times New Roman"/>
                <a:sym typeface="Times New Roman"/>
              </a:rPr>
              <a:t>Architecture:</a:t>
            </a:r>
            <a:r>
              <a:rPr i="1" lang="en" sz="1300">
                <a:solidFill>
                  <a:schemeClr val="dk1"/>
                </a:solidFill>
                <a:highlight>
                  <a:srgbClr val="FFFFFF"/>
                </a:highlight>
                <a:latin typeface="Times New Roman"/>
                <a:ea typeface="Times New Roman"/>
                <a:cs typeface="Times New Roman"/>
                <a:sym typeface="Times New Roman"/>
              </a:rPr>
              <a:t> </a:t>
            </a:r>
            <a:r>
              <a:rPr lang="en" sz="1300">
                <a:solidFill>
                  <a:schemeClr val="dk1"/>
                </a:solidFill>
                <a:highlight>
                  <a:srgbClr val="FFFFFF"/>
                </a:highlight>
                <a:latin typeface="Times New Roman"/>
                <a:ea typeface="Times New Roman"/>
                <a:cs typeface="Times New Roman"/>
                <a:sym typeface="Times New Roman"/>
              </a:rPr>
              <a:t>5 Conv2D, 3 Max Pooling, 3 fully connected layers. </a:t>
            </a:r>
            <a:endParaRPr sz="1300">
              <a:solidFill>
                <a:schemeClr val="dk1"/>
              </a:solidFill>
              <a:highlight>
                <a:srgbClr val="FFFFFF"/>
              </a:highlight>
              <a:latin typeface="Times New Roman"/>
              <a:ea typeface="Times New Roman"/>
              <a:cs typeface="Times New Roman"/>
              <a:sym typeface="Times New Roman"/>
            </a:endParaRPr>
          </a:p>
          <a:p>
            <a:pPr indent="-311150" lvl="0" marL="457200" rtl="0" algn="just">
              <a:lnSpc>
                <a:spcPct val="150000"/>
              </a:lnSpc>
              <a:spcBef>
                <a:spcPts val="0"/>
              </a:spcBef>
              <a:spcAft>
                <a:spcPts val="0"/>
              </a:spcAft>
              <a:buClr>
                <a:schemeClr val="dk1"/>
              </a:buClr>
              <a:buSzPts val="1300"/>
              <a:buFont typeface="Times New Roman"/>
              <a:buChar char="●"/>
            </a:pPr>
            <a:r>
              <a:rPr b="1" i="1" lang="en" sz="1300">
                <a:solidFill>
                  <a:schemeClr val="dk1"/>
                </a:solidFill>
                <a:highlight>
                  <a:srgbClr val="FFFFFF"/>
                </a:highlight>
                <a:latin typeface="Times New Roman"/>
                <a:ea typeface="Times New Roman"/>
                <a:cs typeface="Times New Roman"/>
                <a:sym typeface="Times New Roman"/>
              </a:rPr>
              <a:t>Input size: </a:t>
            </a:r>
            <a:r>
              <a:rPr lang="en" sz="1300">
                <a:solidFill>
                  <a:schemeClr val="dk1"/>
                </a:solidFill>
                <a:highlight>
                  <a:srgbClr val="FFFFFF"/>
                </a:highlight>
                <a:latin typeface="Times New Roman"/>
                <a:ea typeface="Times New Roman"/>
                <a:cs typeface="Times New Roman"/>
                <a:sym typeface="Times New Roman"/>
              </a:rPr>
              <a:t>227x227. </a:t>
            </a:r>
            <a:endParaRPr sz="1300">
              <a:solidFill>
                <a:schemeClr val="dk1"/>
              </a:solidFill>
              <a:highlight>
                <a:srgbClr val="FFFFFF"/>
              </a:highlight>
              <a:latin typeface="Times New Roman"/>
              <a:ea typeface="Times New Roman"/>
              <a:cs typeface="Times New Roman"/>
              <a:sym typeface="Times New Roman"/>
            </a:endParaRPr>
          </a:p>
          <a:p>
            <a:pPr indent="-311150" lvl="0" marL="457200" rtl="0" algn="just">
              <a:lnSpc>
                <a:spcPct val="150000"/>
              </a:lnSpc>
              <a:spcBef>
                <a:spcPts val="0"/>
              </a:spcBef>
              <a:spcAft>
                <a:spcPts val="0"/>
              </a:spcAft>
              <a:buClr>
                <a:schemeClr val="dk1"/>
              </a:buClr>
              <a:buSzPts val="1300"/>
              <a:buFont typeface="Times New Roman"/>
              <a:buChar char="●"/>
            </a:pPr>
            <a:r>
              <a:rPr lang="en" sz="1300">
                <a:solidFill>
                  <a:schemeClr val="dk1"/>
                </a:solidFill>
                <a:highlight>
                  <a:srgbClr val="FFFFFF"/>
                </a:highlight>
                <a:latin typeface="Times New Roman"/>
                <a:ea typeface="Times New Roman"/>
                <a:cs typeface="Times New Roman"/>
                <a:sym typeface="Times New Roman"/>
              </a:rPr>
              <a:t>Dropout, batch normalization used. </a:t>
            </a:r>
            <a:endParaRPr sz="1300">
              <a:solidFill>
                <a:schemeClr val="dk1"/>
              </a:solidFill>
              <a:highlight>
                <a:srgbClr val="FFFFFF"/>
              </a:highlight>
              <a:latin typeface="Times New Roman"/>
              <a:ea typeface="Times New Roman"/>
              <a:cs typeface="Times New Roman"/>
              <a:sym typeface="Times New Roman"/>
            </a:endParaRPr>
          </a:p>
          <a:p>
            <a:pPr indent="-311150" lvl="0" marL="457200" rtl="0" algn="just">
              <a:lnSpc>
                <a:spcPct val="150000"/>
              </a:lnSpc>
              <a:spcBef>
                <a:spcPts val="0"/>
              </a:spcBef>
              <a:spcAft>
                <a:spcPts val="0"/>
              </a:spcAft>
              <a:buClr>
                <a:schemeClr val="dk1"/>
              </a:buClr>
              <a:buSzPts val="1300"/>
              <a:buFont typeface="Times New Roman"/>
              <a:buChar char="●"/>
            </a:pPr>
            <a:r>
              <a:rPr b="1" i="1" lang="en" sz="1300">
                <a:solidFill>
                  <a:schemeClr val="dk1"/>
                </a:solidFill>
                <a:highlight>
                  <a:srgbClr val="FFFFFF"/>
                </a:highlight>
                <a:latin typeface="Times New Roman"/>
                <a:ea typeface="Times New Roman"/>
                <a:cs typeface="Times New Roman"/>
                <a:sym typeface="Times New Roman"/>
              </a:rPr>
              <a:t>Loss function:</a:t>
            </a:r>
            <a:r>
              <a:rPr i="1" lang="en" sz="1300">
                <a:solidFill>
                  <a:schemeClr val="dk1"/>
                </a:solidFill>
                <a:highlight>
                  <a:srgbClr val="FFFFFF"/>
                </a:highlight>
                <a:latin typeface="Times New Roman"/>
                <a:ea typeface="Times New Roman"/>
                <a:cs typeface="Times New Roman"/>
                <a:sym typeface="Times New Roman"/>
              </a:rPr>
              <a:t> </a:t>
            </a:r>
            <a:r>
              <a:rPr lang="en" sz="1300">
                <a:solidFill>
                  <a:schemeClr val="dk1"/>
                </a:solidFill>
                <a:highlight>
                  <a:srgbClr val="FFFFFF"/>
                </a:highlight>
                <a:latin typeface="Times New Roman"/>
                <a:ea typeface="Times New Roman"/>
                <a:cs typeface="Times New Roman"/>
                <a:sym typeface="Times New Roman"/>
              </a:rPr>
              <a:t>Sparse categorical cross entropy. </a:t>
            </a:r>
            <a:endParaRPr sz="1300">
              <a:solidFill>
                <a:schemeClr val="dk1"/>
              </a:solidFill>
              <a:highlight>
                <a:srgbClr val="FFFFFF"/>
              </a:highlight>
              <a:latin typeface="Times New Roman"/>
              <a:ea typeface="Times New Roman"/>
              <a:cs typeface="Times New Roman"/>
              <a:sym typeface="Times New Roman"/>
            </a:endParaRPr>
          </a:p>
          <a:p>
            <a:pPr indent="-311150" lvl="0" marL="457200" rtl="0" algn="just">
              <a:lnSpc>
                <a:spcPct val="150000"/>
              </a:lnSpc>
              <a:spcBef>
                <a:spcPts val="0"/>
              </a:spcBef>
              <a:spcAft>
                <a:spcPts val="0"/>
              </a:spcAft>
              <a:buClr>
                <a:schemeClr val="dk1"/>
              </a:buClr>
              <a:buSzPts val="1300"/>
              <a:buFont typeface="Times New Roman"/>
              <a:buChar char="●"/>
            </a:pPr>
            <a:r>
              <a:rPr b="1" i="1" lang="en" sz="1300">
                <a:solidFill>
                  <a:schemeClr val="dk1"/>
                </a:solidFill>
                <a:highlight>
                  <a:srgbClr val="FFFFFF"/>
                </a:highlight>
                <a:latin typeface="Times New Roman"/>
                <a:ea typeface="Times New Roman"/>
                <a:cs typeface="Times New Roman"/>
                <a:sym typeface="Times New Roman"/>
              </a:rPr>
              <a:t>Optimizer: </a:t>
            </a:r>
            <a:r>
              <a:rPr lang="en" sz="1300">
                <a:solidFill>
                  <a:schemeClr val="dk1"/>
                </a:solidFill>
                <a:highlight>
                  <a:srgbClr val="FFFFFF"/>
                </a:highlight>
                <a:latin typeface="Times New Roman"/>
                <a:ea typeface="Times New Roman"/>
                <a:cs typeface="Times New Roman"/>
                <a:sym typeface="Times New Roman"/>
              </a:rPr>
              <a:t>SGD, fixed LR (0.001). </a:t>
            </a:r>
            <a:r>
              <a:rPr b="1" i="1" lang="en" sz="1300">
                <a:solidFill>
                  <a:schemeClr val="dk1"/>
                </a:solidFill>
                <a:highlight>
                  <a:srgbClr val="FFFFFF"/>
                </a:highlight>
                <a:latin typeface="Times New Roman"/>
                <a:ea typeface="Times New Roman"/>
                <a:cs typeface="Times New Roman"/>
                <a:sym typeface="Times New Roman"/>
              </a:rPr>
              <a:t>Trainable params:</a:t>
            </a:r>
            <a:r>
              <a:rPr i="1" lang="en" sz="1300">
                <a:solidFill>
                  <a:schemeClr val="dk1"/>
                </a:solidFill>
                <a:highlight>
                  <a:srgbClr val="FFFFFF"/>
                </a:highlight>
                <a:latin typeface="Times New Roman"/>
                <a:ea typeface="Times New Roman"/>
                <a:cs typeface="Times New Roman"/>
                <a:sym typeface="Times New Roman"/>
              </a:rPr>
              <a:t> </a:t>
            </a:r>
            <a:r>
              <a:rPr lang="en" sz="1300">
                <a:solidFill>
                  <a:schemeClr val="dk1"/>
                </a:solidFill>
                <a:highlight>
                  <a:srgbClr val="FFFFFF"/>
                </a:highlight>
                <a:latin typeface="Times New Roman"/>
                <a:ea typeface="Times New Roman"/>
                <a:cs typeface="Times New Roman"/>
                <a:sym typeface="Times New Roman"/>
              </a:rPr>
              <a:t>58M. </a:t>
            </a:r>
            <a:endParaRPr sz="1300">
              <a:solidFill>
                <a:schemeClr val="dk1"/>
              </a:solidFill>
              <a:highlight>
                <a:srgbClr val="FFFFFF"/>
              </a:highlight>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b="1" lang="en" sz="1500">
                <a:solidFill>
                  <a:schemeClr val="dk1"/>
                </a:solidFill>
                <a:highlight>
                  <a:srgbClr val="FFFFFF"/>
                </a:highlight>
                <a:latin typeface="Times New Roman"/>
                <a:ea typeface="Times New Roman"/>
                <a:cs typeface="Times New Roman"/>
                <a:sym typeface="Times New Roman"/>
              </a:rPr>
              <a:t>Modified Vgg16:</a:t>
            </a:r>
            <a:r>
              <a:rPr lang="en" sz="1500">
                <a:solidFill>
                  <a:schemeClr val="dk1"/>
                </a:solidFill>
                <a:highlight>
                  <a:srgbClr val="FFFFFF"/>
                </a:highlight>
                <a:latin typeface="Times New Roman"/>
                <a:ea typeface="Times New Roman"/>
                <a:cs typeface="Times New Roman"/>
                <a:sym typeface="Times New Roman"/>
              </a:rPr>
              <a:t> </a:t>
            </a:r>
            <a:endParaRPr sz="1500">
              <a:solidFill>
                <a:schemeClr val="dk1"/>
              </a:solidFill>
              <a:highlight>
                <a:srgbClr val="FFFFFF"/>
              </a:highlight>
              <a:latin typeface="Times New Roman"/>
              <a:ea typeface="Times New Roman"/>
              <a:cs typeface="Times New Roman"/>
              <a:sym typeface="Times New Roman"/>
            </a:endParaRPr>
          </a:p>
          <a:p>
            <a:pPr indent="-311150" lvl="0" marL="457200" rtl="0" algn="just">
              <a:lnSpc>
                <a:spcPct val="150000"/>
              </a:lnSpc>
              <a:spcBef>
                <a:spcPts val="0"/>
              </a:spcBef>
              <a:spcAft>
                <a:spcPts val="0"/>
              </a:spcAft>
              <a:buClr>
                <a:schemeClr val="dk1"/>
              </a:buClr>
              <a:buSzPts val="1300"/>
              <a:buFont typeface="Times New Roman"/>
              <a:buChar char="●"/>
            </a:pPr>
            <a:r>
              <a:rPr b="1" i="1" lang="en" sz="1300">
                <a:solidFill>
                  <a:schemeClr val="dk1"/>
                </a:solidFill>
                <a:highlight>
                  <a:srgbClr val="FFFFFF"/>
                </a:highlight>
                <a:latin typeface="Times New Roman"/>
                <a:ea typeface="Times New Roman"/>
                <a:cs typeface="Times New Roman"/>
                <a:sym typeface="Times New Roman"/>
              </a:rPr>
              <a:t>Architecture: </a:t>
            </a:r>
            <a:r>
              <a:rPr lang="en" sz="1300">
                <a:solidFill>
                  <a:schemeClr val="dk1"/>
                </a:solidFill>
                <a:highlight>
                  <a:srgbClr val="FFFFFF"/>
                </a:highlight>
                <a:latin typeface="Times New Roman"/>
                <a:ea typeface="Times New Roman"/>
                <a:cs typeface="Times New Roman"/>
                <a:sym typeface="Times New Roman"/>
              </a:rPr>
              <a:t>16 layers (13 Conv2D, 3 fully connected). </a:t>
            </a:r>
            <a:endParaRPr sz="1300">
              <a:solidFill>
                <a:schemeClr val="dk1"/>
              </a:solidFill>
              <a:highlight>
                <a:srgbClr val="FFFFFF"/>
              </a:highlight>
              <a:latin typeface="Times New Roman"/>
              <a:ea typeface="Times New Roman"/>
              <a:cs typeface="Times New Roman"/>
              <a:sym typeface="Times New Roman"/>
            </a:endParaRPr>
          </a:p>
          <a:p>
            <a:pPr indent="-311150" lvl="0" marL="457200" rtl="0" algn="just">
              <a:lnSpc>
                <a:spcPct val="150000"/>
              </a:lnSpc>
              <a:spcBef>
                <a:spcPts val="0"/>
              </a:spcBef>
              <a:spcAft>
                <a:spcPts val="0"/>
              </a:spcAft>
              <a:buClr>
                <a:schemeClr val="dk1"/>
              </a:buClr>
              <a:buSzPts val="1300"/>
              <a:buFont typeface="Times New Roman"/>
              <a:buChar char="●"/>
            </a:pPr>
            <a:r>
              <a:rPr b="1" i="1" lang="en" sz="1300">
                <a:solidFill>
                  <a:schemeClr val="dk1"/>
                </a:solidFill>
                <a:highlight>
                  <a:srgbClr val="FFFFFF"/>
                </a:highlight>
                <a:latin typeface="Times New Roman"/>
                <a:ea typeface="Times New Roman"/>
                <a:cs typeface="Times New Roman"/>
                <a:sym typeface="Times New Roman"/>
              </a:rPr>
              <a:t>Input size:</a:t>
            </a:r>
            <a:r>
              <a:rPr i="1" lang="en" sz="1300">
                <a:solidFill>
                  <a:schemeClr val="dk1"/>
                </a:solidFill>
                <a:highlight>
                  <a:srgbClr val="FFFFFF"/>
                </a:highlight>
                <a:latin typeface="Times New Roman"/>
                <a:ea typeface="Times New Roman"/>
                <a:cs typeface="Times New Roman"/>
                <a:sym typeface="Times New Roman"/>
              </a:rPr>
              <a:t> </a:t>
            </a:r>
            <a:r>
              <a:rPr lang="en" sz="1300">
                <a:solidFill>
                  <a:schemeClr val="dk1"/>
                </a:solidFill>
                <a:highlight>
                  <a:srgbClr val="FFFFFF"/>
                </a:highlight>
                <a:latin typeface="Times New Roman"/>
                <a:ea typeface="Times New Roman"/>
                <a:cs typeface="Times New Roman"/>
                <a:sym typeface="Times New Roman"/>
              </a:rPr>
              <a:t>224x224x3. ReLU activation, He_normal initialization. </a:t>
            </a:r>
            <a:endParaRPr sz="1300">
              <a:solidFill>
                <a:schemeClr val="dk1"/>
              </a:solidFill>
              <a:highlight>
                <a:srgbClr val="FFFFFF"/>
              </a:highlight>
              <a:latin typeface="Times New Roman"/>
              <a:ea typeface="Times New Roman"/>
              <a:cs typeface="Times New Roman"/>
              <a:sym typeface="Times New Roman"/>
            </a:endParaRPr>
          </a:p>
          <a:p>
            <a:pPr indent="-311150" lvl="0" marL="457200" rtl="0" algn="just">
              <a:lnSpc>
                <a:spcPct val="150000"/>
              </a:lnSpc>
              <a:spcBef>
                <a:spcPts val="0"/>
              </a:spcBef>
              <a:spcAft>
                <a:spcPts val="0"/>
              </a:spcAft>
              <a:buClr>
                <a:schemeClr val="dk1"/>
              </a:buClr>
              <a:buSzPts val="1300"/>
              <a:buFont typeface="Times New Roman"/>
              <a:buChar char="●"/>
            </a:pPr>
            <a:r>
              <a:rPr b="1" i="1" lang="en" sz="1300">
                <a:solidFill>
                  <a:schemeClr val="dk1"/>
                </a:solidFill>
                <a:highlight>
                  <a:srgbClr val="FFFFFF"/>
                </a:highlight>
                <a:latin typeface="Times New Roman"/>
                <a:ea typeface="Times New Roman"/>
                <a:cs typeface="Times New Roman"/>
                <a:sym typeface="Times New Roman"/>
              </a:rPr>
              <a:t>Loss function:</a:t>
            </a:r>
            <a:r>
              <a:rPr lang="en" sz="1300">
                <a:solidFill>
                  <a:schemeClr val="dk1"/>
                </a:solidFill>
                <a:highlight>
                  <a:srgbClr val="FFFFFF"/>
                </a:highlight>
                <a:latin typeface="Times New Roman"/>
                <a:ea typeface="Times New Roman"/>
                <a:cs typeface="Times New Roman"/>
                <a:sym typeface="Times New Roman"/>
              </a:rPr>
              <a:t> Sparse categorical cross entropy. </a:t>
            </a:r>
            <a:endParaRPr sz="1300">
              <a:solidFill>
                <a:schemeClr val="dk1"/>
              </a:solidFill>
              <a:highlight>
                <a:srgbClr val="FFFFFF"/>
              </a:highlight>
              <a:latin typeface="Times New Roman"/>
              <a:ea typeface="Times New Roman"/>
              <a:cs typeface="Times New Roman"/>
              <a:sym typeface="Times New Roman"/>
            </a:endParaRPr>
          </a:p>
          <a:p>
            <a:pPr indent="-311150" lvl="0" marL="457200" rtl="0" algn="just">
              <a:lnSpc>
                <a:spcPct val="150000"/>
              </a:lnSpc>
              <a:spcBef>
                <a:spcPts val="0"/>
              </a:spcBef>
              <a:spcAft>
                <a:spcPts val="0"/>
              </a:spcAft>
              <a:buClr>
                <a:schemeClr val="dk1"/>
              </a:buClr>
              <a:buSzPts val="1300"/>
              <a:buFont typeface="Times New Roman"/>
              <a:buChar char="●"/>
            </a:pPr>
            <a:r>
              <a:rPr b="1" i="1" lang="en" sz="1300">
                <a:solidFill>
                  <a:schemeClr val="dk1"/>
                </a:solidFill>
                <a:highlight>
                  <a:srgbClr val="FFFFFF"/>
                </a:highlight>
                <a:latin typeface="Times New Roman"/>
                <a:ea typeface="Times New Roman"/>
                <a:cs typeface="Times New Roman"/>
                <a:sym typeface="Times New Roman"/>
              </a:rPr>
              <a:t>Optimizer:</a:t>
            </a:r>
            <a:r>
              <a:rPr i="1" lang="en" sz="1300">
                <a:solidFill>
                  <a:schemeClr val="dk1"/>
                </a:solidFill>
                <a:highlight>
                  <a:srgbClr val="FFFFFF"/>
                </a:highlight>
                <a:latin typeface="Times New Roman"/>
                <a:ea typeface="Times New Roman"/>
                <a:cs typeface="Times New Roman"/>
                <a:sym typeface="Times New Roman"/>
              </a:rPr>
              <a:t> </a:t>
            </a:r>
            <a:r>
              <a:rPr lang="en" sz="1300">
                <a:solidFill>
                  <a:schemeClr val="dk1"/>
                </a:solidFill>
                <a:highlight>
                  <a:srgbClr val="FFFFFF"/>
                </a:highlight>
                <a:latin typeface="Times New Roman"/>
                <a:ea typeface="Times New Roman"/>
                <a:cs typeface="Times New Roman"/>
                <a:sym typeface="Times New Roman"/>
              </a:rPr>
              <a:t>Adam. </a:t>
            </a:r>
            <a:endParaRPr sz="1300">
              <a:solidFill>
                <a:schemeClr val="dk1"/>
              </a:solidFill>
              <a:highlight>
                <a:srgbClr val="FFFFFF"/>
              </a:highlight>
              <a:latin typeface="Times New Roman"/>
              <a:ea typeface="Times New Roman"/>
              <a:cs typeface="Times New Roman"/>
              <a:sym typeface="Times New Roman"/>
            </a:endParaRPr>
          </a:p>
          <a:p>
            <a:pPr indent="-311150" lvl="0" marL="457200" rtl="0" algn="just">
              <a:lnSpc>
                <a:spcPct val="150000"/>
              </a:lnSpc>
              <a:spcBef>
                <a:spcPts val="0"/>
              </a:spcBef>
              <a:spcAft>
                <a:spcPts val="0"/>
              </a:spcAft>
              <a:buClr>
                <a:schemeClr val="dk1"/>
              </a:buClr>
              <a:buSzPts val="1300"/>
              <a:buFont typeface="Times New Roman"/>
              <a:buChar char="●"/>
            </a:pPr>
            <a:r>
              <a:rPr b="1" i="1" lang="en" sz="1300">
                <a:solidFill>
                  <a:schemeClr val="dk1"/>
                </a:solidFill>
                <a:highlight>
                  <a:srgbClr val="FFFFFF"/>
                </a:highlight>
                <a:latin typeface="Times New Roman"/>
                <a:ea typeface="Times New Roman"/>
                <a:cs typeface="Times New Roman"/>
                <a:sym typeface="Times New Roman"/>
              </a:rPr>
              <a:t>Params: </a:t>
            </a:r>
            <a:r>
              <a:rPr lang="en" sz="1300">
                <a:solidFill>
                  <a:schemeClr val="dk1"/>
                </a:solidFill>
                <a:highlight>
                  <a:srgbClr val="FFFFFF"/>
                </a:highlight>
                <a:latin typeface="Times New Roman"/>
                <a:ea typeface="Times New Roman"/>
                <a:cs typeface="Times New Roman"/>
                <a:sym typeface="Times New Roman"/>
              </a:rPr>
              <a:t>70M, </a:t>
            </a:r>
            <a:r>
              <a:rPr b="1" i="1" lang="en" sz="1300">
                <a:solidFill>
                  <a:schemeClr val="dk1"/>
                </a:solidFill>
                <a:highlight>
                  <a:srgbClr val="FFFFFF"/>
                </a:highlight>
                <a:latin typeface="Times New Roman"/>
                <a:ea typeface="Times New Roman"/>
                <a:cs typeface="Times New Roman"/>
                <a:sym typeface="Times New Roman"/>
              </a:rPr>
              <a:t>Trainable:</a:t>
            </a:r>
            <a:r>
              <a:rPr lang="en" sz="1300">
                <a:solidFill>
                  <a:schemeClr val="dk1"/>
                </a:solidFill>
                <a:highlight>
                  <a:srgbClr val="FFFFFF"/>
                </a:highlight>
                <a:latin typeface="Times New Roman"/>
                <a:ea typeface="Times New Roman"/>
                <a:cs typeface="Times New Roman"/>
                <a:sym typeface="Times New Roman"/>
              </a:rPr>
              <a:t> 56M. </a:t>
            </a:r>
            <a:endParaRPr>
              <a:latin typeface="Times New Roman"/>
              <a:ea typeface="Times New Roman"/>
              <a:cs typeface="Times New Roman"/>
              <a:sym typeface="Times New Roman"/>
            </a:endParaRPr>
          </a:p>
        </p:txBody>
      </p:sp>
      <p:pic>
        <p:nvPicPr>
          <p:cNvPr descr="A picture containing measuring stick, text, parallel, colorfulness&#10;&#10;Description automatically generated" id="97" name="Google Shape;97;p19"/>
          <p:cNvPicPr preferRelativeResize="0"/>
          <p:nvPr/>
        </p:nvPicPr>
        <p:blipFill>
          <a:blip r:embed="rId3">
            <a:alphaModFix/>
          </a:blip>
          <a:stretch>
            <a:fillRect/>
          </a:stretch>
        </p:blipFill>
        <p:spPr>
          <a:xfrm>
            <a:off x="5288475" y="1624700"/>
            <a:ext cx="3483275" cy="1128700"/>
          </a:xfrm>
          <a:prstGeom prst="rect">
            <a:avLst/>
          </a:prstGeom>
          <a:noFill/>
          <a:ln>
            <a:noFill/>
          </a:ln>
        </p:spPr>
      </p:pic>
      <p:pic>
        <p:nvPicPr>
          <p:cNvPr descr="A picture containing text, screenshot&#10;&#10;Description automatically generated" id="98" name="Google Shape;98;p19"/>
          <p:cNvPicPr preferRelativeResize="0"/>
          <p:nvPr/>
        </p:nvPicPr>
        <p:blipFill>
          <a:blip r:embed="rId4">
            <a:alphaModFix/>
          </a:blip>
          <a:stretch>
            <a:fillRect/>
          </a:stretch>
        </p:blipFill>
        <p:spPr>
          <a:xfrm>
            <a:off x="5448700" y="3485425"/>
            <a:ext cx="3323050" cy="1045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nvSpPr>
        <p:spPr>
          <a:xfrm>
            <a:off x="554525" y="286800"/>
            <a:ext cx="4368900" cy="4925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
                <a:solidFill>
                  <a:schemeClr val="dk1"/>
                </a:solidFill>
                <a:highlight>
                  <a:srgbClr val="FFFFFF"/>
                </a:highlight>
                <a:latin typeface="Times New Roman"/>
                <a:ea typeface="Times New Roman"/>
                <a:cs typeface="Times New Roman"/>
                <a:sym typeface="Times New Roman"/>
              </a:rPr>
              <a:t>ResNet-50 with modification:</a:t>
            </a:r>
            <a:r>
              <a:rPr lang="en">
                <a:solidFill>
                  <a:schemeClr val="dk1"/>
                </a:solidFill>
                <a:highlight>
                  <a:srgbClr val="FFFFFF"/>
                </a:highlight>
                <a:latin typeface="Times New Roman"/>
                <a:ea typeface="Times New Roman"/>
                <a:cs typeface="Times New Roman"/>
                <a:sym typeface="Times New Roman"/>
              </a:rPr>
              <a:t> </a:t>
            </a:r>
            <a:endParaRPr>
              <a:solidFill>
                <a:schemeClr val="dk1"/>
              </a:solidFill>
              <a:highlight>
                <a:srgbClr val="FFFFFF"/>
              </a:highlight>
              <a:latin typeface="Times New Roman"/>
              <a:ea typeface="Times New Roman"/>
              <a:cs typeface="Times New Roman"/>
              <a:sym typeface="Times New Roman"/>
            </a:endParaRPr>
          </a:p>
          <a:p>
            <a:pPr indent="-317500" lvl="0" marL="457200" rtl="0" algn="just">
              <a:lnSpc>
                <a:spcPct val="150000"/>
              </a:lnSpc>
              <a:spcBef>
                <a:spcPts val="0"/>
              </a:spcBef>
              <a:spcAft>
                <a:spcPts val="0"/>
              </a:spcAft>
              <a:buClr>
                <a:schemeClr val="dk1"/>
              </a:buClr>
              <a:buSzPts val="1400"/>
              <a:buFont typeface="Times New Roman"/>
              <a:buChar char="●"/>
            </a:pPr>
            <a:r>
              <a:rPr b="1" i="1" lang="en">
                <a:solidFill>
                  <a:schemeClr val="dk1"/>
                </a:solidFill>
                <a:highlight>
                  <a:srgbClr val="FFFFFF"/>
                </a:highlight>
                <a:latin typeface="Times New Roman"/>
                <a:ea typeface="Times New Roman"/>
                <a:cs typeface="Times New Roman"/>
                <a:sym typeface="Times New Roman"/>
              </a:rPr>
              <a:t>Architecture:</a:t>
            </a:r>
            <a:r>
              <a:rPr lang="en">
                <a:solidFill>
                  <a:schemeClr val="dk1"/>
                </a:solidFill>
                <a:highlight>
                  <a:srgbClr val="FFFFFF"/>
                </a:highlight>
                <a:latin typeface="Times New Roman"/>
                <a:ea typeface="Times New Roman"/>
                <a:cs typeface="Times New Roman"/>
                <a:sym typeface="Times New Roman"/>
              </a:rPr>
              <a:t> 50 layers with skip connections. </a:t>
            </a:r>
            <a:endParaRPr>
              <a:solidFill>
                <a:schemeClr val="dk1"/>
              </a:solidFill>
              <a:highlight>
                <a:srgbClr val="FFFFFF"/>
              </a:highlight>
              <a:latin typeface="Times New Roman"/>
              <a:ea typeface="Times New Roman"/>
              <a:cs typeface="Times New Roman"/>
              <a:sym typeface="Times New Roman"/>
            </a:endParaRPr>
          </a:p>
          <a:p>
            <a:pPr indent="-317500" lvl="0" marL="457200" rtl="0" algn="just">
              <a:lnSpc>
                <a:spcPct val="150000"/>
              </a:lnSpc>
              <a:spcBef>
                <a:spcPts val="0"/>
              </a:spcBef>
              <a:spcAft>
                <a:spcPts val="0"/>
              </a:spcAft>
              <a:buClr>
                <a:schemeClr val="dk1"/>
              </a:buClr>
              <a:buSzPts val="1400"/>
              <a:buFont typeface="Times New Roman"/>
              <a:buChar char="●"/>
            </a:pPr>
            <a:r>
              <a:rPr b="1" i="1" lang="en">
                <a:solidFill>
                  <a:schemeClr val="dk1"/>
                </a:solidFill>
                <a:highlight>
                  <a:srgbClr val="FFFFFF"/>
                </a:highlight>
                <a:latin typeface="Times New Roman"/>
                <a:ea typeface="Times New Roman"/>
                <a:cs typeface="Times New Roman"/>
                <a:sym typeface="Times New Roman"/>
              </a:rPr>
              <a:t>Stages:</a:t>
            </a:r>
            <a:r>
              <a:rPr lang="en">
                <a:solidFill>
                  <a:schemeClr val="dk1"/>
                </a:solidFill>
                <a:highlight>
                  <a:srgbClr val="FFFFFF"/>
                </a:highlight>
                <a:latin typeface="Times New Roman"/>
                <a:ea typeface="Times New Roman"/>
                <a:cs typeface="Times New Roman"/>
                <a:sym typeface="Times New Roman"/>
              </a:rPr>
              <a:t> convolutions, pooling, skip connections. </a:t>
            </a:r>
            <a:endParaRPr>
              <a:solidFill>
                <a:schemeClr val="dk1"/>
              </a:solidFill>
              <a:highlight>
                <a:srgbClr val="FFFFFF"/>
              </a:highlight>
              <a:latin typeface="Times New Roman"/>
              <a:ea typeface="Times New Roman"/>
              <a:cs typeface="Times New Roman"/>
              <a:sym typeface="Times New Roman"/>
            </a:endParaRPr>
          </a:p>
          <a:p>
            <a:pPr indent="-317500" lvl="0" marL="457200" rtl="0" algn="just">
              <a:lnSpc>
                <a:spcPct val="150000"/>
              </a:lnSpc>
              <a:spcBef>
                <a:spcPts val="0"/>
              </a:spcBef>
              <a:spcAft>
                <a:spcPts val="0"/>
              </a:spcAft>
              <a:buClr>
                <a:schemeClr val="dk1"/>
              </a:buClr>
              <a:buSzPts val="1400"/>
              <a:buFont typeface="Times New Roman"/>
              <a:buChar char="●"/>
            </a:pPr>
            <a:r>
              <a:rPr lang="en">
                <a:solidFill>
                  <a:schemeClr val="dk1"/>
                </a:solidFill>
                <a:highlight>
                  <a:srgbClr val="FFFFFF"/>
                </a:highlight>
                <a:latin typeface="Times New Roman"/>
                <a:ea typeface="Times New Roman"/>
                <a:cs typeface="Times New Roman"/>
                <a:sym typeface="Times New Roman"/>
              </a:rPr>
              <a:t>Batch normalization used. </a:t>
            </a:r>
            <a:endParaRPr>
              <a:solidFill>
                <a:schemeClr val="dk1"/>
              </a:solidFill>
              <a:highlight>
                <a:srgbClr val="FFFFFF"/>
              </a:highlight>
              <a:latin typeface="Times New Roman"/>
              <a:ea typeface="Times New Roman"/>
              <a:cs typeface="Times New Roman"/>
              <a:sym typeface="Times New Roman"/>
            </a:endParaRPr>
          </a:p>
          <a:p>
            <a:pPr indent="-317500" lvl="0" marL="457200" rtl="0" algn="just">
              <a:lnSpc>
                <a:spcPct val="150000"/>
              </a:lnSpc>
              <a:spcBef>
                <a:spcPts val="0"/>
              </a:spcBef>
              <a:spcAft>
                <a:spcPts val="0"/>
              </a:spcAft>
              <a:buClr>
                <a:schemeClr val="dk1"/>
              </a:buClr>
              <a:buSzPts val="1400"/>
              <a:buFont typeface="Times New Roman"/>
              <a:buChar char="●"/>
            </a:pPr>
            <a:r>
              <a:rPr b="1" i="1" lang="en">
                <a:solidFill>
                  <a:schemeClr val="dk1"/>
                </a:solidFill>
                <a:highlight>
                  <a:srgbClr val="FFFFFF"/>
                </a:highlight>
                <a:latin typeface="Times New Roman"/>
                <a:ea typeface="Times New Roman"/>
                <a:cs typeface="Times New Roman"/>
                <a:sym typeface="Times New Roman"/>
              </a:rPr>
              <a:t>Input size:</a:t>
            </a:r>
            <a:r>
              <a:rPr lang="en">
                <a:solidFill>
                  <a:schemeClr val="dk1"/>
                </a:solidFill>
                <a:highlight>
                  <a:srgbClr val="FFFFFF"/>
                </a:highlight>
                <a:latin typeface="Times New Roman"/>
                <a:ea typeface="Times New Roman"/>
                <a:cs typeface="Times New Roman"/>
                <a:sym typeface="Times New Roman"/>
              </a:rPr>
              <a:t> 50x50x3. </a:t>
            </a:r>
            <a:endParaRPr>
              <a:solidFill>
                <a:schemeClr val="dk1"/>
              </a:solidFill>
              <a:highlight>
                <a:srgbClr val="FFFFFF"/>
              </a:highlight>
              <a:latin typeface="Times New Roman"/>
              <a:ea typeface="Times New Roman"/>
              <a:cs typeface="Times New Roman"/>
              <a:sym typeface="Times New Roman"/>
            </a:endParaRPr>
          </a:p>
          <a:p>
            <a:pPr indent="-317500" lvl="0" marL="457200" rtl="0" algn="just">
              <a:lnSpc>
                <a:spcPct val="150000"/>
              </a:lnSpc>
              <a:spcBef>
                <a:spcPts val="0"/>
              </a:spcBef>
              <a:spcAft>
                <a:spcPts val="0"/>
              </a:spcAft>
              <a:buClr>
                <a:schemeClr val="dk1"/>
              </a:buClr>
              <a:buSzPts val="1400"/>
              <a:buFont typeface="Times New Roman"/>
              <a:buChar char="●"/>
            </a:pPr>
            <a:r>
              <a:rPr b="1" i="1" lang="en">
                <a:solidFill>
                  <a:schemeClr val="dk1"/>
                </a:solidFill>
                <a:highlight>
                  <a:srgbClr val="FFFFFF"/>
                </a:highlight>
                <a:latin typeface="Times New Roman"/>
                <a:ea typeface="Times New Roman"/>
                <a:cs typeface="Times New Roman"/>
                <a:sym typeface="Times New Roman"/>
              </a:rPr>
              <a:t>Optimizer: </a:t>
            </a:r>
            <a:r>
              <a:rPr lang="en">
                <a:solidFill>
                  <a:schemeClr val="dk1"/>
                </a:solidFill>
                <a:highlight>
                  <a:srgbClr val="FFFFFF"/>
                </a:highlight>
                <a:latin typeface="Times New Roman"/>
                <a:ea typeface="Times New Roman"/>
                <a:cs typeface="Times New Roman"/>
                <a:sym typeface="Times New Roman"/>
              </a:rPr>
              <a:t>Mini-batch SGD with momentum. </a:t>
            </a:r>
            <a:endParaRPr>
              <a:solidFill>
                <a:schemeClr val="dk1"/>
              </a:solidFill>
              <a:highlight>
                <a:srgbClr val="FFFFFF"/>
              </a:highlight>
              <a:latin typeface="Times New Roman"/>
              <a:ea typeface="Times New Roman"/>
              <a:cs typeface="Times New Roman"/>
              <a:sym typeface="Times New Roman"/>
            </a:endParaRPr>
          </a:p>
          <a:p>
            <a:pPr indent="-317500" lvl="0" marL="457200" rtl="0" algn="just">
              <a:lnSpc>
                <a:spcPct val="150000"/>
              </a:lnSpc>
              <a:spcBef>
                <a:spcPts val="0"/>
              </a:spcBef>
              <a:spcAft>
                <a:spcPts val="0"/>
              </a:spcAft>
              <a:buClr>
                <a:schemeClr val="dk1"/>
              </a:buClr>
              <a:buSzPts val="1400"/>
              <a:buFont typeface="Times New Roman"/>
              <a:buChar char="●"/>
            </a:pPr>
            <a:r>
              <a:rPr b="1" i="1" lang="en">
                <a:solidFill>
                  <a:schemeClr val="dk1"/>
                </a:solidFill>
                <a:highlight>
                  <a:srgbClr val="FFFFFF"/>
                </a:highlight>
                <a:latin typeface="Times New Roman"/>
                <a:ea typeface="Times New Roman"/>
                <a:cs typeface="Times New Roman"/>
                <a:sym typeface="Times New Roman"/>
              </a:rPr>
              <a:t>Params:</a:t>
            </a:r>
            <a:r>
              <a:rPr lang="en">
                <a:solidFill>
                  <a:schemeClr val="dk1"/>
                </a:solidFill>
                <a:highlight>
                  <a:srgbClr val="FFFFFF"/>
                </a:highlight>
                <a:latin typeface="Times New Roman"/>
                <a:ea typeface="Times New Roman"/>
                <a:cs typeface="Times New Roman"/>
                <a:sym typeface="Times New Roman"/>
              </a:rPr>
              <a:t> 23M. </a:t>
            </a:r>
            <a:endParaRPr>
              <a:solidFill>
                <a:schemeClr val="dk1"/>
              </a:solidFill>
              <a:highlight>
                <a:srgbClr val="FFFFFF"/>
              </a:highlight>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t/>
            </a:r>
            <a:endParaRPr>
              <a:solidFill>
                <a:schemeClr val="dk1"/>
              </a:solidFill>
              <a:highlight>
                <a:srgbClr val="FFFFFF"/>
              </a:highlight>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b="1" lang="en">
                <a:solidFill>
                  <a:schemeClr val="dk1"/>
                </a:solidFill>
                <a:highlight>
                  <a:srgbClr val="FFFFFF"/>
                </a:highlight>
                <a:latin typeface="Times New Roman"/>
                <a:ea typeface="Times New Roman"/>
                <a:cs typeface="Times New Roman"/>
                <a:sym typeface="Times New Roman"/>
              </a:rPr>
              <a:t>GoogleNet (22 Layers):</a:t>
            </a:r>
            <a:r>
              <a:rPr lang="en">
                <a:solidFill>
                  <a:schemeClr val="dk1"/>
                </a:solidFill>
                <a:highlight>
                  <a:srgbClr val="FFFFFF"/>
                </a:highlight>
                <a:latin typeface="Times New Roman"/>
                <a:ea typeface="Times New Roman"/>
                <a:cs typeface="Times New Roman"/>
                <a:sym typeface="Times New Roman"/>
              </a:rPr>
              <a:t> </a:t>
            </a:r>
            <a:endParaRPr>
              <a:solidFill>
                <a:schemeClr val="dk1"/>
              </a:solidFill>
              <a:highlight>
                <a:srgbClr val="FFFFFF"/>
              </a:highlight>
              <a:latin typeface="Times New Roman"/>
              <a:ea typeface="Times New Roman"/>
              <a:cs typeface="Times New Roman"/>
              <a:sym typeface="Times New Roman"/>
            </a:endParaRPr>
          </a:p>
          <a:p>
            <a:pPr indent="-317500" lvl="0" marL="457200" rtl="0" algn="just">
              <a:lnSpc>
                <a:spcPct val="150000"/>
              </a:lnSpc>
              <a:spcBef>
                <a:spcPts val="0"/>
              </a:spcBef>
              <a:spcAft>
                <a:spcPts val="0"/>
              </a:spcAft>
              <a:buClr>
                <a:schemeClr val="dk1"/>
              </a:buClr>
              <a:buSzPts val="1400"/>
              <a:buFont typeface="Times New Roman"/>
              <a:buChar char="●"/>
            </a:pPr>
            <a:r>
              <a:rPr b="1" i="1" lang="en">
                <a:solidFill>
                  <a:schemeClr val="dk1"/>
                </a:solidFill>
                <a:highlight>
                  <a:srgbClr val="FFFFFF"/>
                </a:highlight>
                <a:latin typeface="Times New Roman"/>
                <a:ea typeface="Times New Roman"/>
                <a:cs typeface="Times New Roman"/>
                <a:sym typeface="Times New Roman"/>
              </a:rPr>
              <a:t>Architecture:</a:t>
            </a:r>
            <a:r>
              <a:rPr lang="en">
                <a:solidFill>
                  <a:schemeClr val="dk1"/>
                </a:solidFill>
                <a:highlight>
                  <a:srgbClr val="FFFFFF"/>
                </a:highlight>
                <a:latin typeface="Times New Roman"/>
                <a:ea typeface="Times New Roman"/>
                <a:cs typeface="Times New Roman"/>
                <a:sym typeface="Times New Roman"/>
              </a:rPr>
              <a:t> 22 layers with Inception module. </a:t>
            </a:r>
            <a:endParaRPr>
              <a:solidFill>
                <a:schemeClr val="dk1"/>
              </a:solidFill>
              <a:highlight>
                <a:srgbClr val="FFFFFF"/>
              </a:highlight>
              <a:latin typeface="Times New Roman"/>
              <a:ea typeface="Times New Roman"/>
              <a:cs typeface="Times New Roman"/>
              <a:sym typeface="Times New Roman"/>
            </a:endParaRPr>
          </a:p>
          <a:p>
            <a:pPr indent="-317500" lvl="0" marL="457200" rtl="0" algn="just">
              <a:lnSpc>
                <a:spcPct val="150000"/>
              </a:lnSpc>
              <a:spcBef>
                <a:spcPts val="0"/>
              </a:spcBef>
              <a:spcAft>
                <a:spcPts val="0"/>
              </a:spcAft>
              <a:buClr>
                <a:schemeClr val="dk1"/>
              </a:buClr>
              <a:buSzPts val="1400"/>
              <a:buFont typeface="Times New Roman"/>
              <a:buChar char="●"/>
            </a:pPr>
            <a:r>
              <a:rPr lang="en">
                <a:solidFill>
                  <a:schemeClr val="dk1"/>
                </a:solidFill>
                <a:highlight>
                  <a:srgbClr val="FFFFFF"/>
                </a:highlight>
                <a:latin typeface="Times New Roman"/>
                <a:ea typeface="Times New Roman"/>
                <a:cs typeface="Times New Roman"/>
                <a:sym typeface="Times New Roman"/>
              </a:rPr>
              <a:t>Inception module combines convolutions and max pooling. </a:t>
            </a:r>
            <a:endParaRPr>
              <a:solidFill>
                <a:schemeClr val="dk1"/>
              </a:solidFill>
              <a:highlight>
                <a:srgbClr val="FFFFFF"/>
              </a:highlight>
              <a:latin typeface="Times New Roman"/>
              <a:ea typeface="Times New Roman"/>
              <a:cs typeface="Times New Roman"/>
              <a:sym typeface="Times New Roman"/>
            </a:endParaRPr>
          </a:p>
          <a:p>
            <a:pPr indent="-317500" lvl="0" marL="457200" rtl="0" algn="just">
              <a:lnSpc>
                <a:spcPct val="150000"/>
              </a:lnSpc>
              <a:spcBef>
                <a:spcPts val="0"/>
              </a:spcBef>
              <a:spcAft>
                <a:spcPts val="0"/>
              </a:spcAft>
              <a:buClr>
                <a:schemeClr val="dk1"/>
              </a:buClr>
              <a:buSzPts val="1400"/>
              <a:buFont typeface="Times New Roman"/>
              <a:buChar char="●"/>
            </a:pPr>
            <a:r>
              <a:rPr lang="en">
                <a:solidFill>
                  <a:schemeClr val="dk1"/>
                </a:solidFill>
                <a:highlight>
                  <a:srgbClr val="FFFFFF"/>
                </a:highlight>
                <a:latin typeface="Times New Roman"/>
                <a:ea typeface="Times New Roman"/>
                <a:cs typeface="Times New Roman"/>
                <a:sym typeface="Times New Roman"/>
              </a:rPr>
              <a:t>Convolutional and max pooling layers used.</a:t>
            </a:r>
            <a:endParaRPr>
              <a:solidFill>
                <a:schemeClr val="dk1"/>
              </a:solidFill>
              <a:highlight>
                <a:srgbClr val="FFFFFF"/>
              </a:highlight>
              <a:latin typeface="Times New Roman"/>
              <a:ea typeface="Times New Roman"/>
              <a:cs typeface="Times New Roman"/>
              <a:sym typeface="Times New Roman"/>
            </a:endParaRPr>
          </a:p>
          <a:p>
            <a:pPr indent="-317500" lvl="0" marL="457200" rtl="0" algn="just">
              <a:lnSpc>
                <a:spcPct val="150000"/>
              </a:lnSpc>
              <a:spcBef>
                <a:spcPts val="0"/>
              </a:spcBef>
              <a:spcAft>
                <a:spcPts val="0"/>
              </a:spcAft>
              <a:buClr>
                <a:schemeClr val="dk1"/>
              </a:buClr>
              <a:buSzPts val="1400"/>
              <a:buFont typeface="Times New Roman"/>
              <a:buChar char="●"/>
            </a:pPr>
            <a:r>
              <a:rPr b="1" i="1" lang="en">
                <a:solidFill>
                  <a:schemeClr val="dk1"/>
                </a:solidFill>
                <a:highlight>
                  <a:srgbClr val="FFFFFF"/>
                </a:highlight>
                <a:latin typeface="Times New Roman"/>
                <a:ea typeface="Times New Roman"/>
                <a:cs typeface="Times New Roman"/>
                <a:sym typeface="Times New Roman"/>
              </a:rPr>
              <a:t>Input size: </a:t>
            </a:r>
            <a:r>
              <a:rPr lang="en">
                <a:solidFill>
                  <a:schemeClr val="dk1"/>
                </a:solidFill>
                <a:highlight>
                  <a:srgbClr val="FFFFFF"/>
                </a:highlight>
                <a:latin typeface="Times New Roman"/>
                <a:ea typeface="Times New Roman"/>
                <a:cs typeface="Times New Roman"/>
                <a:sym typeface="Times New Roman"/>
              </a:rPr>
              <a:t>224x224. </a:t>
            </a:r>
            <a:r>
              <a:rPr b="1" i="1" lang="en">
                <a:solidFill>
                  <a:schemeClr val="dk1"/>
                </a:solidFill>
                <a:highlight>
                  <a:srgbClr val="FFFFFF"/>
                </a:highlight>
                <a:latin typeface="Times New Roman"/>
                <a:ea typeface="Times New Roman"/>
                <a:cs typeface="Times New Roman"/>
                <a:sym typeface="Times New Roman"/>
              </a:rPr>
              <a:t>Params: </a:t>
            </a:r>
            <a:r>
              <a:rPr lang="en">
                <a:solidFill>
                  <a:schemeClr val="dk1"/>
                </a:solidFill>
                <a:highlight>
                  <a:srgbClr val="FFFFFF"/>
                </a:highlight>
                <a:latin typeface="Times New Roman"/>
                <a:ea typeface="Times New Roman"/>
                <a:cs typeface="Times New Roman"/>
                <a:sym typeface="Times New Roman"/>
              </a:rPr>
              <a:t>10M after dropout.</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p>
        </p:txBody>
      </p:sp>
      <p:pic>
        <p:nvPicPr>
          <p:cNvPr descr="A picture containing text, screenshot, diagram, font&#10;&#10;Description automatically generated" id="104" name="Google Shape;104;p20"/>
          <p:cNvPicPr preferRelativeResize="0"/>
          <p:nvPr/>
        </p:nvPicPr>
        <p:blipFill>
          <a:blip r:embed="rId3">
            <a:alphaModFix/>
          </a:blip>
          <a:stretch>
            <a:fillRect/>
          </a:stretch>
        </p:blipFill>
        <p:spPr>
          <a:xfrm>
            <a:off x="4923425" y="411175"/>
            <a:ext cx="3685774" cy="2064975"/>
          </a:xfrm>
          <a:prstGeom prst="rect">
            <a:avLst/>
          </a:prstGeom>
          <a:noFill/>
          <a:ln>
            <a:noFill/>
          </a:ln>
        </p:spPr>
      </p:pic>
      <p:pic>
        <p:nvPicPr>
          <p:cNvPr descr="A picture containing text, screenshot, font, line&#10;&#10;Description automatically generated" id="105" name="Google Shape;105;p20"/>
          <p:cNvPicPr preferRelativeResize="0"/>
          <p:nvPr/>
        </p:nvPicPr>
        <p:blipFill>
          <a:blip r:embed="rId4">
            <a:alphaModFix/>
          </a:blip>
          <a:stretch>
            <a:fillRect/>
          </a:stretch>
        </p:blipFill>
        <p:spPr>
          <a:xfrm>
            <a:off x="4923425" y="2657225"/>
            <a:ext cx="3886200" cy="2133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nvSpPr>
        <p:spPr>
          <a:xfrm>
            <a:off x="717400" y="411475"/>
            <a:ext cx="7723500" cy="481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1" lang="en" sz="3000">
                <a:latin typeface="Times New Roman"/>
                <a:ea typeface="Times New Roman"/>
                <a:cs typeface="Times New Roman"/>
                <a:sym typeface="Times New Roman"/>
              </a:rPr>
              <a:t>Ensemble Learning</a:t>
            </a:r>
            <a:endParaRPr b="1" i="0" sz="3000" u="none" cap="none" strike="noStrike">
              <a:solidFill>
                <a:srgbClr val="000000"/>
              </a:solidFill>
              <a:latin typeface="Times New Roman"/>
              <a:ea typeface="Times New Roman"/>
              <a:cs typeface="Times New Roman"/>
              <a:sym typeface="Times New Roman"/>
            </a:endParaRPr>
          </a:p>
        </p:txBody>
      </p:sp>
      <p:sp>
        <p:nvSpPr>
          <p:cNvPr id="111" name="Google Shape;111;p21"/>
          <p:cNvSpPr txBox="1"/>
          <p:nvPr/>
        </p:nvSpPr>
        <p:spPr>
          <a:xfrm>
            <a:off x="221150" y="1016500"/>
            <a:ext cx="4215000" cy="3829500"/>
          </a:xfrm>
          <a:prstGeom prst="rect">
            <a:avLst/>
          </a:prstGeom>
          <a:noFill/>
          <a:ln>
            <a:noFill/>
          </a:ln>
        </p:spPr>
        <p:txBody>
          <a:bodyPr anchorCtr="0" anchor="t" bIns="91425" lIns="91425" spcFirstLastPara="1" rIns="91425" wrap="square" tIns="91425">
            <a:spAutoFit/>
          </a:bodyPr>
          <a:lstStyle/>
          <a:p>
            <a:pPr indent="-330200" lvl="0" marL="457200" rtl="0" algn="just">
              <a:lnSpc>
                <a:spcPct val="115000"/>
              </a:lnSpc>
              <a:spcBef>
                <a:spcPts val="0"/>
              </a:spcBef>
              <a:spcAft>
                <a:spcPts val="0"/>
              </a:spcAft>
              <a:buClr>
                <a:schemeClr val="dk1"/>
              </a:buClr>
              <a:buSzPts val="1600"/>
              <a:buFont typeface="Times New Roman"/>
              <a:buChar char="●"/>
            </a:pPr>
            <a:r>
              <a:rPr lang="en" sz="1600">
                <a:solidFill>
                  <a:schemeClr val="dk1"/>
                </a:solidFill>
                <a:highlight>
                  <a:srgbClr val="FFFFFF"/>
                </a:highlight>
                <a:latin typeface="Times New Roman"/>
                <a:ea typeface="Times New Roman"/>
                <a:cs typeface="Times New Roman"/>
                <a:sym typeface="Times New Roman"/>
              </a:rPr>
              <a:t>Stratified shuffle split maintains class distribution while randomly splitting the dataset into training and testing sets. </a:t>
            </a:r>
            <a:endParaRPr sz="1600">
              <a:solidFill>
                <a:schemeClr val="dk1"/>
              </a:solidFill>
              <a:highlight>
                <a:srgbClr val="FFFFFF"/>
              </a:highlight>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chemeClr val="dk1"/>
              </a:buClr>
              <a:buSzPts val="1600"/>
              <a:buFont typeface="Times New Roman"/>
              <a:buChar char="●"/>
            </a:pPr>
            <a:r>
              <a:rPr lang="en" sz="1600">
                <a:solidFill>
                  <a:schemeClr val="dk1"/>
                </a:solidFill>
                <a:highlight>
                  <a:srgbClr val="FFFFFF"/>
                </a:highlight>
                <a:latin typeface="Times New Roman"/>
                <a:ea typeface="Times New Roman"/>
                <a:cs typeface="Times New Roman"/>
                <a:sym typeface="Times New Roman"/>
              </a:rPr>
              <a:t>Ensemble learning is used with custom CNN and LeNet architectures. </a:t>
            </a:r>
            <a:endParaRPr sz="1600">
              <a:solidFill>
                <a:schemeClr val="dk1"/>
              </a:solidFill>
              <a:highlight>
                <a:srgbClr val="FFFFFF"/>
              </a:highlight>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chemeClr val="dk1"/>
              </a:buClr>
              <a:buSzPts val="1600"/>
              <a:buFont typeface="Times New Roman"/>
              <a:buChar char="●"/>
            </a:pPr>
            <a:r>
              <a:rPr lang="en" sz="1600">
                <a:solidFill>
                  <a:schemeClr val="dk1"/>
                </a:solidFill>
                <a:highlight>
                  <a:srgbClr val="FFFFFF"/>
                </a:highlight>
                <a:latin typeface="Times New Roman"/>
                <a:ea typeface="Times New Roman"/>
                <a:cs typeface="Times New Roman"/>
                <a:sym typeface="Times New Roman"/>
              </a:rPr>
              <a:t>The models have convolutional and pooling layers, dropout layers, and dense output layers. </a:t>
            </a:r>
            <a:endParaRPr sz="1600">
              <a:solidFill>
                <a:schemeClr val="dk1"/>
              </a:solidFill>
              <a:highlight>
                <a:srgbClr val="FFFFFF"/>
              </a:highlight>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chemeClr val="dk1"/>
              </a:buClr>
              <a:buSzPts val="1600"/>
              <a:buFont typeface="Times New Roman"/>
              <a:buChar char="●"/>
            </a:pPr>
            <a:r>
              <a:rPr lang="en" sz="1600">
                <a:solidFill>
                  <a:schemeClr val="dk1"/>
                </a:solidFill>
                <a:highlight>
                  <a:srgbClr val="FFFFFF"/>
                </a:highlight>
                <a:latin typeface="Times New Roman"/>
                <a:ea typeface="Times New Roman"/>
                <a:cs typeface="Times New Roman"/>
                <a:sym typeface="Times New Roman"/>
              </a:rPr>
              <a:t>After training the models and running them on 20 epochs, individual accuracies are obtained. </a:t>
            </a:r>
            <a:endParaRPr sz="1600">
              <a:solidFill>
                <a:schemeClr val="dk1"/>
              </a:solidFill>
              <a:highlight>
                <a:srgbClr val="FFFFFF"/>
              </a:highlight>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chemeClr val="dk1"/>
              </a:buClr>
              <a:buSzPts val="1600"/>
              <a:buFont typeface="Times New Roman"/>
              <a:buChar char="●"/>
            </a:pPr>
            <a:r>
              <a:rPr lang="en" sz="1600">
                <a:solidFill>
                  <a:schemeClr val="dk1"/>
                </a:solidFill>
                <a:highlight>
                  <a:srgbClr val="FFFFFF"/>
                </a:highlight>
                <a:latin typeface="Times New Roman"/>
                <a:ea typeface="Times New Roman"/>
                <a:cs typeface="Times New Roman"/>
                <a:sym typeface="Times New Roman"/>
              </a:rPr>
              <a:t>Ensemble accuracy is determined by combining the predictions of all models.</a:t>
            </a:r>
            <a:endParaRPr>
              <a:latin typeface="Times New Roman"/>
              <a:ea typeface="Times New Roman"/>
              <a:cs typeface="Times New Roman"/>
              <a:sym typeface="Times New Roman"/>
            </a:endParaRPr>
          </a:p>
        </p:txBody>
      </p:sp>
      <p:pic>
        <p:nvPicPr>
          <p:cNvPr descr="A picture containing text, screenshot, line, font&#10;&#10;Description automatically generated" id="112" name="Google Shape;112;p21"/>
          <p:cNvPicPr preferRelativeResize="0"/>
          <p:nvPr/>
        </p:nvPicPr>
        <p:blipFill>
          <a:blip r:embed="rId3">
            <a:alphaModFix/>
          </a:blip>
          <a:stretch>
            <a:fillRect/>
          </a:stretch>
        </p:blipFill>
        <p:spPr>
          <a:xfrm>
            <a:off x="4598100" y="1979238"/>
            <a:ext cx="4403050" cy="190402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nvSpPr>
        <p:spPr>
          <a:xfrm>
            <a:off x="717400" y="411475"/>
            <a:ext cx="7723500" cy="481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1" lang="en" sz="3000">
                <a:latin typeface="Times New Roman"/>
                <a:ea typeface="Times New Roman"/>
                <a:cs typeface="Times New Roman"/>
                <a:sym typeface="Times New Roman"/>
              </a:rPr>
              <a:t>Basic GUI</a:t>
            </a:r>
            <a:endParaRPr b="1" i="0" sz="3000" u="none" cap="none" strike="noStrike">
              <a:solidFill>
                <a:srgbClr val="000000"/>
              </a:solidFill>
              <a:latin typeface="Times New Roman"/>
              <a:ea typeface="Times New Roman"/>
              <a:cs typeface="Times New Roman"/>
              <a:sym typeface="Times New Roman"/>
            </a:endParaRPr>
          </a:p>
        </p:txBody>
      </p:sp>
      <p:pic>
        <p:nvPicPr>
          <p:cNvPr id="118" name="Google Shape;118;p22"/>
          <p:cNvPicPr preferRelativeResize="0"/>
          <p:nvPr/>
        </p:nvPicPr>
        <p:blipFill>
          <a:blip r:embed="rId3">
            <a:alphaModFix/>
          </a:blip>
          <a:stretch>
            <a:fillRect/>
          </a:stretch>
        </p:blipFill>
        <p:spPr>
          <a:xfrm>
            <a:off x="2055450" y="978700"/>
            <a:ext cx="5033108" cy="3946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nvSpPr>
        <p:spPr>
          <a:xfrm>
            <a:off x="717400" y="411475"/>
            <a:ext cx="7723500" cy="481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1" lang="en" sz="3000">
                <a:latin typeface="Times New Roman"/>
                <a:ea typeface="Times New Roman"/>
                <a:cs typeface="Times New Roman"/>
                <a:sym typeface="Times New Roman"/>
              </a:rPr>
              <a:t>Website </a:t>
            </a:r>
            <a:endParaRPr b="1" i="0" sz="3000" u="none" cap="none" strike="noStrike">
              <a:solidFill>
                <a:srgbClr val="000000"/>
              </a:solidFill>
              <a:latin typeface="Times New Roman"/>
              <a:ea typeface="Times New Roman"/>
              <a:cs typeface="Times New Roman"/>
              <a:sym typeface="Times New Roman"/>
            </a:endParaRPr>
          </a:p>
        </p:txBody>
      </p:sp>
      <p:pic>
        <p:nvPicPr>
          <p:cNvPr id="124" name="Google Shape;124;p23"/>
          <p:cNvPicPr preferRelativeResize="0"/>
          <p:nvPr/>
        </p:nvPicPr>
        <p:blipFill>
          <a:blip r:embed="rId3">
            <a:alphaModFix/>
          </a:blip>
          <a:stretch>
            <a:fillRect/>
          </a:stretch>
        </p:blipFill>
        <p:spPr>
          <a:xfrm>
            <a:off x="1422325" y="1006850"/>
            <a:ext cx="6313640" cy="3946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4"/>
          <p:cNvPicPr preferRelativeResize="0"/>
          <p:nvPr/>
        </p:nvPicPr>
        <p:blipFill>
          <a:blip r:embed="rId3">
            <a:alphaModFix/>
          </a:blip>
          <a:stretch>
            <a:fillRect/>
          </a:stretch>
        </p:blipFill>
        <p:spPr>
          <a:xfrm>
            <a:off x="701038" y="152400"/>
            <a:ext cx="7741919" cy="48386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nvSpPr>
        <p:spPr>
          <a:xfrm>
            <a:off x="710250" y="170575"/>
            <a:ext cx="7723500" cy="481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1" lang="en" sz="3000">
                <a:latin typeface="Times New Roman"/>
                <a:ea typeface="Times New Roman"/>
                <a:cs typeface="Times New Roman"/>
                <a:sym typeface="Times New Roman"/>
              </a:rPr>
              <a:t>Results &amp; Discussion</a:t>
            </a:r>
            <a:endParaRPr b="1" i="0" sz="3000" u="none" cap="none" strike="noStrike">
              <a:solidFill>
                <a:srgbClr val="000000"/>
              </a:solidFill>
              <a:latin typeface="Times New Roman"/>
              <a:ea typeface="Times New Roman"/>
              <a:cs typeface="Times New Roman"/>
              <a:sym typeface="Times New Roman"/>
            </a:endParaRPr>
          </a:p>
        </p:txBody>
      </p:sp>
      <p:sp>
        <p:nvSpPr>
          <p:cNvPr id="135" name="Google Shape;135;p25"/>
          <p:cNvSpPr txBox="1"/>
          <p:nvPr/>
        </p:nvSpPr>
        <p:spPr>
          <a:xfrm>
            <a:off x="498400" y="1016500"/>
            <a:ext cx="4023600" cy="400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a:latin typeface="Times New Roman"/>
              <a:ea typeface="Times New Roman"/>
              <a:cs typeface="Times New Roman"/>
              <a:sym typeface="Times New Roman"/>
            </a:endParaRPr>
          </a:p>
        </p:txBody>
      </p:sp>
      <p:pic>
        <p:nvPicPr>
          <p:cNvPr descr="A graph of a graph of a graph of a graph of a graph of a graph of a graph of a graph of a graph of a graph of a graph of a graph of a graph of&#10;&#10;Description automatically generated with low confidence" id="136" name="Google Shape;136;p25"/>
          <p:cNvPicPr preferRelativeResize="0"/>
          <p:nvPr/>
        </p:nvPicPr>
        <p:blipFill rotWithShape="1">
          <a:blip r:embed="rId3">
            <a:alphaModFix/>
          </a:blip>
          <a:srcRect b="10889" l="0" r="0" t="0"/>
          <a:stretch/>
        </p:blipFill>
        <p:spPr>
          <a:xfrm>
            <a:off x="1490751" y="756425"/>
            <a:ext cx="6162475" cy="1877225"/>
          </a:xfrm>
          <a:prstGeom prst="rect">
            <a:avLst/>
          </a:prstGeom>
          <a:noFill/>
          <a:ln>
            <a:noFill/>
          </a:ln>
        </p:spPr>
      </p:pic>
      <p:sp>
        <p:nvSpPr>
          <p:cNvPr id="137" name="Google Shape;137;p25"/>
          <p:cNvSpPr txBox="1"/>
          <p:nvPr/>
        </p:nvSpPr>
        <p:spPr>
          <a:xfrm>
            <a:off x="1558350" y="2738300"/>
            <a:ext cx="6023100" cy="400200"/>
          </a:xfrm>
          <a:prstGeom prst="rect">
            <a:avLst/>
          </a:prstGeom>
          <a:noFill/>
          <a:ln>
            <a:noFill/>
          </a:ln>
        </p:spPr>
        <p:txBody>
          <a:bodyPr anchorCtr="0" anchor="t" bIns="91425" lIns="91425" spcFirstLastPara="1" rIns="91425" wrap="square" tIns="91425">
            <a:spAutoFit/>
          </a:bodyPr>
          <a:lstStyle/>
          <a:p>
            <a:pPr indent="0" lvl="0" marL="0" marR="153670" rtl="0" algn="ctr">
              <a:lnSpc>
                <a:spcPct val="150000"/>
              </a:lnSpc>
              <a:spcBef>
                <a:spcPts val="0"/>
              </a:spcBef>
              <a:spcAft>
                <a:spcPts val="0"/>
              </a:spcAft>
              <a:buNone/>
            </a:pPr>
            <a:r>
              <a:rPr b="1" lang="en">
                <a:solidFill>
                  <a:schemeClr val="dk1"/>
                </a:solidFill>
                <a:latin typeface="Times New Roman"/>
                <a:ea typeface="Times New Roman"/>
                <a:cs typeface="Times New Roman"/>
                <a:sym typeface="Times New Roman"/>
              </a:rPr>
              <a:t>Accuracy and Loss Graph of Alexnet architecture</a:t>
            </a:r>
            <a:endParaRPr b="1" sz="1600"/>
          </a:p>
        </p:txBody>
      </p:sp>
      <p:sp>
        <p:nvSpPr>
          <p:cNvPr id="138" name="Google Shape;138;p25"/>
          <p:cNvSpPr txBox="1"/>
          <p:nvPr/>
        </p:nvSpPr>
        <p:spPr>
          <a:xfrm>
            <a:off x="296375" y="3138500"/>
            <a:ext cx="8460900" cy="1800900"/>
          </a:xfrm>
          <a:prstGeom prst="rect">
            <a:avLst/>
          </a:prstGeom>
          <a:noFill/>
          <a:ln>
            <a:noFill/>
          </a:ln>
        </p:spPr>
        <p:txBody>
          <a:bodyPr anchorCtr="0" anchor="t" bIns="91425" lIns="91425" spcFirstLastPara="1" rIns="91425" wrap="square" tIns="91425">
            <a:spAutoFit/>
          </a:bodyPr>
          <a:lstStyle/>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Customised AlexNet achieved 96.06% training accuracy and 91% validation accuracy.</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Testing accuracy was 83.8%. </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Training took around 8 hours. </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The model showed a balanced performance in the accuracy and loss graph. Loss decreased gradually with increasing epochs.</a:t>
            </a:r>
            <a:endParaRPr sz="15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txBox="1"/>
          <p:nvPr/>
        </p:nvSpPr>
        <p:spPr>
          <a:xfrm>
            <a:off x="498400" y="1016500"/>
            <a:ext cx="4023600" cy="400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a:latin typeface="Times New Roman"/>
              <a:ea typeface="Times New Roman"/>
              <a:cs typeface="Times New Roman"/>
              <a:sym typeface="Times New Roman"/>
            </a:endParaRPr>
          </a:p>
        </p:txBody>
      </p:sp>
      <p:sp>
        <p:nvSpPr>
          <p:cNvPr id="144" name="Google Shape;144;p26"/>
          <p:cNvSpPr txBox="1"/>
          <p:nvPr/>
        </p:nvSpPr>
        <p:spPr>
          <a:xfrm>
            <a:off x="1560450" y="2604588"/>
            <a:ext cx="6023100" cy="400200"/>
          </a:xfrm>
          <a:prstGeom prst="rect">
            <a:avLst/>
          </a:prstGeom>
          <a:noFill/>
          <a:ln>
            <a:noFill/>
          </a:ln>
        </p:spPr>
        <p:txBody>
          <a:bodyPr anchorCtr="0" anchor="t" bIns="91425" lIns="91425" spcFirstLastPara="1" rIns="91425" wrap="square" tIns="91425">
            <a:spAutoFit/>
          </a:bodyPr>
          <a:lstStyle/>
          <a:p>
            <a:pPr indent="0" lvl="0" marL="0" marR="153670" rtl="0" algn="ctr">
              <a:lnSpc>
                <a:spcPct val="150000"/>
              </a:lnSpc>
              <a:spcBef>
                <a:spcPts val="0"/>
              </a:spcBef>
              <a:spcAft>
                <a:spcPts val="0"/>
              </a:spcAft>
              <a:buNone/>
            </a:pPr>
            <a:r>
              <a:rPr b="1" lang="en">
                <a:solidFill>
                  <a:schemeClr val="dk1"/>
                </a:solidFill>
                <a:latin typeface="Times New Roman"/>
                <a:ea typeface="Times New Roman"/>
                <a:cs typeface="Times New Roman"/>
                <a:sym typeface="Times New Roman"/>
              </a:rPr>
              <a:t>Accuracy and Loss Graph of Vgg16 architecture</a:t>
            </a:r>
            <a:endParaRPr b="1">
              <a:latin typeface="Times New Roman"/>
              <a:ea typeface="Times New Roman"/>
              <a:cs typeface="Times New Roman"/>
              <a:sym typeface="Times New Roman"/>
            </a:endParaRPr>
          </a:p>
        </p:txBody>
      </p:sp>
      <p:sp>
        <p:nvSpPr>
          <p:cNvPr id="145" name="Google Shape;145;p26"/>
          <p:cNvSpPr txBox="1"/>
          <p:nvPr/>
        </p:nvSpPr>
        <p:spPr>
          <a:xfrm>
            <a:off x="296375" y="3062025"/>
            <a:ext cx="8460900" cy="1454700"/>
          </a:xfrm>
          <a:prstGeom prst="rect">
            <a:avLst/>
          </a:prstGeom>
          <a:noFill/>
          <a:ln>
            <a:noFill/>
          </a:ln>
        </p:spPr>
        <p:txBody>
          <a:bodyPr anchorCtr="0" anchor="t" bIns="91425" lIns="91425" spcFirstLastPara="1" rIns="91425" wrap="square" tIns="91425">
            <a:spAutoFit/>
          </a:bodyPr>
          <a:lstStyle/>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Modified Vgg16 achieved 98% training accuracy and 98.9% validation accuracy. </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Testing accuracy was 89.688%. </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Training time exceeded one day due to high parameter count and image size.  </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The model performed well considering the high complexity, demonstrating its effectiveness.</a:t>
            </a:r>
            <a:endParaRPr sz="1500">
              <a:latin typeface="Times New Roman"/>
              <a:ea typeface="Times New Roman"/>
              <a:cs typeface="Times New Roman"/>
              <a:sym typeface="Times New Roman"/>
            </a:endParaRPr>
          </a:p>
        </p:txBody>
      </p:sp>
      <p:pic>
        <p:nvPicPr>
          <p:cNvPr descr="A picture containing line, plot, diagram, screenshot&#10;&#10;Description automatically generated" id="146" name="Google Shape;146;p26"/>
          <p:cNvPicPr preferRelativeResize="0"/>
          <p:nvPr/>
        </p:nvPicPr>
        <p:blipFill>
          <a:blip r:embed="rId3">
            <a:alphaModFix/>
          </a:blip>
          <a:stretch>
            <a:fillRect/>
          </a:stretch>
        </p:blipFill>
        <p:spPr>
          <a:xfrm>
            <a:off x="1829882" y="487025"/>
            <a:ext cx="5393893" cy="20603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nvSpPr>
        <p:spPr>
          <a:xfrm>
            <a:off x="498400" y="1016500"/>
            <a:ext cx="4023600" cy="400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a:latin typeface="Times New Roman"/>
              <a:ea typeface="Times New Roman"/>
              <a:cs typeface="Times New Roman"/>
              <a:sym typeface="Times New Roman"/>
            </a:endParaRPr>
          </a:p>
        </p:txBody>
      </p:sp>
      <p:sp>
        <p:nvSpPr>
          <p:cNvPr id="152" name="Google Shape;152;p27"/>
          <p:cNvSpPr txBox="1"/>
          <p:nvPr/>
        </p:nvSpPr>
        <p:spPr>
          <a:xfrm>
            <a:off x="1558350" y="2738300"/>
            <a:ext cx="6023100" cy="415500"/>
          </a:xfrm>
          <a:prstGeom prst="rect">
            <a:avLst/>
          </a:prstGeom>
          <a:noFill/>
          <a:ln>
            <a:noFill/>
          </a:ln>
        </p:spPr>
        <p:txBody>
          <a:bodyPr anchorCtr="0" anchor="t" bIns="91425" lIns="91425" spcFirstLastPara="1" rIns="91425" wrap="square" tIns="91425">
            <a:spAutoFit/>
          </a:bodyPr>
          <a:lstStyle/>
          <a:p>
            <a:pPr indent="0" lvl="0" marL="0" marR="153670" rtl="0" algn="ctr">
              <a:lnSpc>
                <a:spcPct val="150000"/>
              </a:lnSpc>
              <a:spcBef>
                <a:spcPts val="0"/>
              </a:spcBef>
              <a:spcAft>
                <a:spcPts val="0"/>
              </a:spcAft>
              <a:buNone/>
            </a:pPr>
            <a:r>
              <a:rPr b="1" lang="en" sz="1500">
                <a:solidFill>
                  <a:schemeClr val="dk1"/>
                </a:solidFill>
                <a:latin typeface="Times New Roman"/>
                <a:ea typeface="Times New Roman"/>
                <a:cs typeface="Times New Roman"/>
                <a:sym typeface="Times New Roman"/>
              </a:rPr>
              <a:t>Accuracy and Loss Graph of Resnet50 architecture</a:t>
            </a:r>
            <a:endParaRPr b="1" sz="1900"/>
          </a:p>
        </p:txBody>
      </p:sp>
      <p:sp>
        <p:nvSpPr>
          <p:cNvPr id="153" name="Google Shape;153;p27"/>
          <p:cNvSpPr txBox="1"/>
          <p:nvPr/>
        </p:nvSpPr>
        <p:spPr>
          <a:xfrm>
            <a:off x="296375" y="3138500"/>
            <a:ext cx="8460900" cy="1800900"/>
          </a:xfrm>
          <a:prstGeom prst="rect">
            <a:avLst/>
          </a:prstGeom>
          <a:noFill/>
          <a:ln>
            <a:noFill/>
          </a:ln>
        </p:spPr>
        <p:txBody>
          <a:bodyPr anchorCtr="0" anchor="t" bIns="91425" lIns="91425" spcFirstLastPara="1" rIns="91425" wrap="square" tIns="91425">
            <a:spAutoFit/>
          </a:bodyPr>
          <a:lstStyle/>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Customized ResNet achieved a training accuracy of 98.6% and a validation accuracy of 97.33%. </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Testing accuracy was measured at 93.96%. </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ResNet50 demonstrated the highest accuracy on the training data. </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The training process took approximately 15 hours. The model's performance on the testing data was also satisfactory.</a:t>
            </a:r>
            <a:endParaRPr sz="1500">
              <a:latin typeface="Times New Roman"/>
              <a:ea typeface="Times New Roman"/>
              <a:cs typeface="Times New Roman"/>
              <a:sym typeface="Times New Roman"/>
            </a:endParaRPr>
          </a:p>
        </p:txBody>
      </p:sp>
      <p:pic>
        <p:nvPicPr>
          <p:cNvPr descr="A picture containing line, plot, screenshot, diagram&#10;&#10;Description automatically generated" id="154" name="Google Shape;154;p27"/>
          <p:cNvPicPr preferRelativeResize="0"/>
          <p:nvPr/>
        </p:nvPicPr>
        <p:blipFill>
          <a:blip r:embed="rId3">
            <a:alphaModFix/>
          </a:blip>
          <a:stretch>
            <a:fillRect/>
          </a:stretch>
        </p:blipFill>
        <p:spPr>
          <a:xfrm>
            <a:off x="1558350" y="219325"/>
            <a:ext cx="5854750" cy="23906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nvSpPr>
        <p:spPr>
          <a:xfrm>
            <a:off x="498400" y="1016500"/>
            <a:ext cx="4023600" cy="400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a:latin typeface="Times New Roman"/>
              <a:ea typeface="Times New Roman"/>
              <a:cs typeface="Times New Roman"/>
              <a:sym typeface="Times New Roman"/>
            </a:endParaRPr>
          </a:p>
        </p:txBody>
      </p:sp>
      <p:sp>
        <p:nvSpPr>
          <p:cNvPr id="160" name="Google Shape;160;p28"/>
          <p:cNvSpPr txBox="1"/>
          <p:nvPr/>
        </p:nvSpPr>
        <p:spPr>
          <a:xfrm>
            <a:off x="1558350" y="2738300"/>
            <a:ext cx="6023100" cy="400200"/>
          </a:xfrm>
          <a:prstGeom prst="rect">
            <a:avLst/>
          </a:prstGeom>
          <a:noFill/>
          <a:ln>
            <a:noFill/>
          </a:ln>
        </p:spPr>
        <p:txBody>
          <a:bodyPr anchorCtr="0" anchor="t" bIns="91425" lIns="91425" spcFirstLastPara="1" rIns="91425" wrap="square" tIns="91425">
            <a:spAutoFit/>
          </a:bodyPr>
          <a:lstStyle/>
          <a:p>
            <a:pPr indent="186690" lvl="0" marL="727075" marR="153670" rtl="0" algn="just">
              <a:lnSpc>
                <a:spcPct val="150000"/>
              </a:lnSpc>
              <a:spcBef>
                <a:spcPts val="0"/>
              </a:spcBef>
              <a:spcAft>
                <a:spcPts val="0"/>
              </a:spcAft>
              <a:buNone/>
            </a:pPr>
            <a:r>
              <a:rPr b="1" lang="en">
                <a:solidFill>
                  <a:schemeClr val="dk1"/>
                </a:solidFill>
                <a:latin typeface="Times New Roman"/>
                <a:ea typeface="Times New Roman"/>
                <a:cs typeface="Times New Roman"/>
                <a:sym typeface="Times New Roman"/>
              </a:rPr>
              <a:t>Accuracy and Loss Graph of google net architecture</a:t>
            </a:r>
            <a:endParaRPr b="1" sz="1600">
              <a:latin typeface="Times New Roman"/>
              <a:ea typeface="Times New Roman"/>
              <a:cs typeface="Times New Roman"/>
              <a:sym typeface="Times New Roman"/>
            </a:endParaRPr>
          </a:p>
        </p:txBody>
      </p:sp>
      <p:sp>
        <p:nvSpPr>
          <p:cNvPr id="161" name="Google Shape;161;p28"/>
          <p:cNvSpPr txBox="1"/>
          <p:nvPr/>
        </p:nvSpPr>
        <p:spPr>
          <a:xfrm>
            <a:off x="296375" y="3138500"/>
            <a:ext cx="8460900" cy="1800900"/>
          </a:xfrm>
          <a:prstGeom prst="rect">
            <a:avLst/>
          </a:prstGeom>
          <a:noFill/>
          <a:ln>
            <a:noFill/>
          </a:ln>
        </p:spPr>
        <p:txBody>
          <a:bodyPr anchorCtr="0" anchor="t" bIns="91425" lIns="91425" spcFirstLastPara="1" rIns="91425" wrap="square" tIns="91425">
            <a:spAutoFit/>
          </a:bodyPr>
          <a:lstStyle/>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Customized GoogleNet achieved a training accuracy of 99.8% and a validation accuracy of 99.1%.</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 Testing accuracy was measured at 95.92%. </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The GoogleNet model with 22 layers had three dense layers, with the highest accuracy among them being 99%. </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Among all the models, GoogleNet achieved the highest accuracy on the testing data.</a:t>
            </a:r>
            <a:endParaRPr sz="1500">
              <a:latin typeface="Times New Roman"/>
              <a:ea typeface="Times New Roman"/>
              <a:cs typeface="Times New Roman"/>
              <a:sym typeface="Times New Roman"/>
            </a:endParaRPr>
          </a:p>
        </p:txBody>
      </p:sp>
      <p:pic>
        <p:nvPicPr>
          <p:cNvPr descr="A graph of a graph of a graph of a graph of a graph of a graph of a graph of a graph of a graph of a graph of a graph of a graph of a graph of&#10;&#10;Description automatically generated with medium confidence" id="162" name="Google Shape;162;p28"/>
          <p:cNvPicPr preferRelativeResize="0"/>
          <p:nvPr/>
        </p:nvPicPr>
        <p:blipFill>
          <a:blip r:embed="rId3">
            <a:alphaModFix/>
          </a:blip>
          <a:stretch>
            <a:fillRect/>
          </a:stretch>
        </p:blipFill>
        <p:spPr>
          <a:xfrm>
            <a:off x="1859213" y="248000"/>
            <a:ext cx="5425575" cy="23771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descr="A picture containing text, screenshot, font, number&#10;&#10;Description automatically generated" id="167" name="Google Shape;167;p29"/>
          <p:cNvPicPr preferRelativeResize="0"/>
          <p:nvPr/>
        </p:nvPicPr>
        <p:blipFill>
          <a:blip r:embed="rId3">
            <a:alphaModFix/>
          </a:blip>
          <a:stretch>
            <a:fillRect/>
          </a:stretch>
        </p:blipFill>
        <p:spPr>
          <a:xfrm>
            <a:off x="1988413" y="898750"/>
            <a:ext cx="5076825" cy="2181225"/>
          </a:xfrm>
          <a:prstGeom prst="rect">
            <a:avLst/>
          </a:prstGeom>
          <a:noFill/>
          <a:ln>
            <a:noFill/>
          </a:ln>
        </p:spPr>
      </p:pic>
      <p:sp>
        <p:nvSpPr>
          <p:cNvPr id="168" name="Google Shape;168;p29"/>
          <p:cNvSpPr txBox="1"/>
          <p:nvPr/>
        </p:nvSpPr>
        <p:spPr>
          <a:xfrm>
            <a:off x="1617750" y="249925"/>
            <a:ext cx="5908500" cy="461700"/>
          </a:xfrm>
          <a:prstGeom prst="rect">
            <a:avLst/>
          </a:prstGeom>
          <a:noFill/>
          <a:ln>
            <a:noFill/>
          </a:ln>
        </p:spPr>
        <p:txBody>
          <a:bodyPr anchorCtr="0" anchor="t" bIns="91425" lIns="91425" spcFirstLastPara="1" rIns="91425" wrap="square" tIns="91425">
            <a:spAutoFit/>
          </a:bodyPr>
          <a:lstStyle/>
          <a:p>
            <a:pPr indent="0" lvl="0" marL="0" marR="153670" rtl="0" algn="ctr">
              <a:spcBef>
                <a:spcPts val="1200"/>
              </a:spcBef>
              <a:spcAft>
                <a:spcPts val="1200"/>
              </a:spcAft>
              <a:buNone/>
            </a:pPr>
            <a:r>
              <a:rPr b="1" lang="en" sz="1800">
                <a:solidFill>
                  <a:schemeClr val="dk1"/>
                </a:solidFill>
                <a:latin typeface="Times New Roman"/>
                <a:ea typeface="Times New Roman"/>
                <a:cs typeface="Times New Roman"/>
                <a:sym typeface="Times New Roman"/>
              </a:rPr>
              <a:t>Models accuracy on 4 different random split of dataset</a:t>
            </a:r>
            <a:endParaRPr b="1" sz="1800">
              <a:latin typeface="Times New Roman"/>
              <a:ea typeface="Times New Roman"/>
              <a:cs typeface="Times New Roman"/>
              <a:sym typeface="Times New Roman"/>
            </a:endParaRPr>
          </a:p>
        </p:txBody>
      </p:sp>
      <p:sp>
        <p:nvSpPr>
          <p:cNvPr id="169" name="Google Shape;169;p29"/>
          <p:cNvSpPr txBox="1"/>
          <p:nvPr/>
        </p:nvSpPr>
        <p:spPr>
          <a:xfrm>
            <a:off x="296388" y="3267100"/>
            <a:ext cx="8460900" cy="1108200"/>
          </a:xfrm>
          <a:prstGeom prst="rect">
            <a:avLst/>
          </a:prstGeom>
          <a:noFill/>
          <a:ln>
            <a:noFill/>
          </a:ln>
        </p:spPr>
        <p:txBody>
          <a:bodyPr anchorCtr="0" anchor="t" bIns="91425" lIns="91425" spcFirstLastPara="1" rIns="91425" wrap="square" tIns="91425">
            <a:spAutoFit/>
          </a:bodyPr>
          <a:lstStyle/>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Two models, Custom CNN and LeNet, were trained on different dataset splits. </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After combining the four models, the ensemble accuracy on the testing dataset was 96.31%. </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Ensemble techniques improved the overall model efficiency.</a:t>
            </a:r>
            <a:endParaRPr sz="1500">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0"/>
          <p:cNvSpPr txBox="1"/>
          <p:nvPr/>
        </p:nvSpPr>
        <p:spPr>
          <a:xfrm>
            <a:off x="717400" y="411475"/>
            <a:ext cx="7723500" cy="481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1" lang="en" sz="3000">
                <a:latin typeface="Times New Roman"/>
                <a:ea typeface="Times New Roman"/>
                <a:cs typeface="Times New Roman"/>
                <a:sym typeface="Times New Roman"/>
              </a:rPr>
              <a:t>Conclusion &amp; Future Work</a:t>
            </a:r>
            <a:endParaRPr b="1" i="0" sz="3000" u="none" cap="none" strike="noStrike">
              <a:solidFill>
                <a:srgbClr val="000000"/>
              </a:solidFill>
              <a:latin typeface="Times New Roman"/>
              <a:ea typeface="Times New Roman"/>
              <a:cs typeface="Times New Roman"/>
              <a:sym typeface="Times New Roman"/>
            </a:endParaRPr>
          </a:p>
        </p:txBody>
      </p:sp>
      <p:sp>
        <p:nvSpPr>
          <p:cNvPr id="175" name="Google Shape;175;p30"/>
          <p:cNvSpPr txBox="1"/>
          <p:nvPr/>
        </p:nvSpPr>
        <p:spPr>
          <a:xfrm>
            <a:off x="248200" y="1026425"/>
            <a:ext cx="8661900" cy="3879000"/>
          </a:xfrm>
          <a:prstGeom prst="rect">
            <a:avLst/>
          </a:prstGeom>
          <a:noFill/>
          <a:ln>
            <a:noFill/>
          </a:ln>
        </p:spPr>
        <p:txBody>
          <a:bodyPr anchorCtr="0" anchor="t" bIns="91425" lIns="91425" spcFirstLastPara="1" rIns="91425" wrap="square" tIns="91425">
            <a:spAutoFit/>
          </a:bodyPr>
          <a:lstStyle/>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The recommended framework performs accurate characterization on both the GTSRB dataset and a recently created dataset. </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Convolutional Neural Networks (CNN) are used in the proposed approach for training the model.</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 Histogram equalization is applied to pre-processed photos to improve contrast. </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The highest accuracy achieved on the test dataset is 96.3% using ensemble methods. </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Future work can involve fine-tuning models with more data and collecting data from different parts of the world to improve accuracy and robustness. </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Real-time traffic sign detection can be explored for applications like autonomous driving. Multi-lingual traffic sign recognition could enhance safety on roads by recognizing signs in different languages.</a:t>
            </a:r>
            <a:endParaRPr sz="1500">
              <a:latin typeface="Times New Roman"/>
              <a:ea typeface="Times New Roman"/>
              <a:cs typeface="Times New Roman"/>
              <a:sym typeface="Times New Roman"/>
            </a:endParaRPr>
          </a:p>
          <a:p>
            <a:pPr indent="-323850" lvl="0" marL="457200" rtl="0" algn="just">
              <a:lnSpc>
                <a:spcPct val="15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Disadvantages of traffic sign categorization include obscured or difficult-to-see signs, which can pose risks and require further study.</a:t>
            </a:r>
            <a:endParaRPr sz="150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1"/>
          <p:cNvSpPr txBox="1"/>
          <p:nvPr/>
        </p:nvSpPr>
        <p:spPr>
          <a:xfrm>
            <a:off x="2893800" y="1892100"/>
            <a:ext cx="3356400" cy="969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500"/>
              <a:buFont typeface="Arial"/>
              <a:buNone/>
            </a:pPr>
            <a:r>
              <a:rPr b="1" i="0" lang="en" sz="5100" u="sng" cap="none" strike="noStrike">
                <a:solidFill>
                  <a:srgbClr val="000000"/>
                </a:solidFill>
                <a:latin typeface="Times New Roman"/>
                <a:ea typeface="Times New Roman"/>
                <a:cs typeface="Times New Roman"/>
                <a:sym typeface="Times New Roman"/>
              </a:rPr>
              <a:t>Thank You</a:t>
            </a:r>
            <a:endParaRPr b="1" i="0" sz="5100" u="sng"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Technology Infographics by Slides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